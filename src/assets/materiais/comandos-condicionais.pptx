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Poppins Medium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PoppinsMedium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PoppinsMedium-italic.fntdata"/><Relationship Id="rId23" Type="http://schemas.openxmlformats.org/officeDocument/2006/relationships/font" Target="fonts/Poppi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regular.fntdata"/><Relationship Id="rId25" Type="http://schemas.openxmlformats.org/officeDocument/2006/relationships/font" Target="fonts/PoppinsMedium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f2996a21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f2996a21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4678bde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4678bde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 o exemplo do semáforo para contextualizar: "Quando o sinal está verde, você passa. Quando está vermelho, você para. O computador funciona igual — ele verifica uma condição e decide o que fazer." Pergunte para a turma se alguém consegue pensar em outro exemplo do cotidiano.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ea17680c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ea17680c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Explique que o IF é como uma pergunta que o programa faz. "Se isso for verdade, então faça isso." Destaque os dois elementos essenciais: a condição após o IF e os dois pontos no final da linha. Ainda não entrar no exemplo prático, só apresentar a estrutura.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ea17680c_4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5ea17680c_4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Esse slide é muito importante — dedique um tempo maior aqui. Mostre o exemplo errado primeiro e pergunte "o que está diferente?". Espere as respostas antes de revelar. Reforce que o Python é diferente de outras linguagens justamente por usar identação como regra obrigatória, não apenas visual.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5ea17680c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5ea17680c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 o contexto da Maria para tornar o exemplo concreto. Leia o código em voz alta como se fosse uma frase: "Se a idade for maior que 5, então pode entrar." Mostre os dois casos — quando a condição é verdadeira e quando é falsa — e chame atenção para o fato de que quando é falsa, o programa simplesmente não faz nada ainda.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ea17680c_4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5ea17680c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Conecte com o slide anterior: "Mas e quando a condição é falsa e a gente quer que algo aconteça mesmo assim?" Apresente o ELSE como o complemento natural do IF. Reforce que o ELSE nunca recebe condição — ele é sempre o "em todos os outros casos".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5ea17680c_4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5ea17680c_4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Retome o exemplo da Maria para mostrar a evolução: agora o programa responde nos dois casos. Leia o código como frase completa: "Se a idade for maior que 5, pode entrar. Caso contrário, não pode entrar." Pergunte para a turma o que seria impresso se a idade fosse 6, depois 4, depois 5. E o que eles deveriam fazer para o código funcionar caso a idade fosse igual à 5. RESPOSTA: </a:t>
            </a:r>
            <a:r>
              <a:rPr b="1"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idade &gt;= 5:</a:t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5ea17680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5ea17680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Introduza o problema: "E se tivermos mais de duas possibilidades?" Dê um exemplo verbal antes de mostrar o código: "Imagine uma nota — pode ser ótima, boa, regular ou ruim. O IF e o ELSE sozinhos não são suficientes." Apresente o ELIF como uma forma de encadear múltiplas verificações.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ea17680c_4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5ea17680c_4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Percorra o código passo a passo com a turma, perguntando em cada condição: "Essa é verdadeira para pontuação 75?" Deixe a turma responder antes de revelar a saída. Depois, troque o valor para 95 e para 20 e peça que adivinhem a saída — isso reforça a compreensão do fluxo.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5ea17680c_4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5ea17680c_4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5ea17680c_4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5ea17680c_4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2.jp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 title="cape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93125" y="4358481"/>
            <a:ext cx="343075" cy="3183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100">
                <a:solidFill>
                  <a:srgbClr val="F3F3F3"/>
                </a:solidFill>
              </a:rPr>
              <a:t>Condicionais</a:t>
            </a:r>
            <a:endParaRPr b="1" sz="5100">
              <a:solidFill>
                <a:srgbClr val="F3F3F3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FFFF"/>
                </a:solidFill>
              </a:rPr>
              <a:t>Projeto Wanda</a:t>
            </a:r>
            <a:endParaRPr sz="2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pedestrian_no_bg_final.png"/>
          <p:cNvPicPr preferRelativeResize="0"/>
          <p:nvPr/>
        </p:nvPicPr>
        <p:blipFill rotWithShape="1">
          <a:blip r:embed="rId3">
            <a:alphaModFix/>
          </a:blip>
          <a:srcRect b="5121" l="-4723" r="7134" t="4716"/>
          <a:stretch/>
        </p:blipFill>
        <p:spPr>
          <a:xfrm>
            <a:off x="1576100" y="1064375"/>
            <a:ext cx="3718050" cy="359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Quando atravessar a rua?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Condicionais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São utilizadas para tomar decisões no código. 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0" name="Google Shape;70;p15" title="pedestrian_green_no_bg__2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9" y="1907491"/>
            <a:ext cx="2608024" cy="260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8a51ab45-6b50-49da-9d8f-a1cba18db9b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2589" y="1907491"/>
            <a:ext cx="2608023" cy="260802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919763" y="2089050"/>
            <a:ext cx="3262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o sinal estiver </a:t>
            </a:r>
            <a:r>
              <a:rPr lang="pt-BR" sz="1900">
                <a:solidFill>
                  <a:srgbClr val="63FDBC"/>
                </a:solidFill>
                <a:latin typeface="Poppins"/>
                <a:ea typeface="Poppins"/>
                <a:cs typeface="Poppins"/>
                <a:sym typeface="Poppins"/>
              </a:rPr>
              <a:t>aberto</a:t>
            </a: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, eu posso atravessar!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919750" y="3286875"/>
            <a:ext cx="3262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ele estiver </a:t>
            </a:r>
            <a:r>
              <a:rPr lang="pt-BR" sz="1900">
                <a:solidFill>
                  <a:srgbClr val="EE3F1E"/>
                </a:solidFill>
                <a:latin typeface="Poppins"/>
                <a:ea typeface="Poppins"/>
                <a:cs typeface="Poppins"/>
                <a:sym typeface="Poppins"/>
              </a:rPr>
              <a:t>fechado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devo esperar.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Condicionais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Comando IF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Executa um bloco de código somente se a condição for verdadeira.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881025" y="2101300"/>
            <a:ext cx="30780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sinal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“verde”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atravessar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800">
              <a:solidFill>
                <a:srgbClr val="8381D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2" name="Google Shape;82;p16" title="pedestrian_green_no_bg__2_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862" y="2891250"/>
            <a:ext cx="2018475" cy="2018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4632075" y="2101300"/>
            <a:ext cx="35118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sinal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“vermelho”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atravessar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800">
              <a:solidFill>
                <a:srgbClr val="8381D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4" name="Google Shape;84;p16" title="8a51ab45-6b50-49da-9d8f-a1cba18db9b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188" y="2891250"/>
            <a:ext cx="2018476" cy="201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OBSERVAÇÃO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Indentação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11700" y="1492075"/>
            <a:ext cx="8478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 Python, a 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indentação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define quais linhas pertencem a um bloco de código. Ela é feita com um TAB ou 4 espaços no início da linha.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95300" y="3068725"/>
            <a:ext cx="4076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"Pode entrar!"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4713900" y="3068725"/>
            <a:ext cx="4076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"Pode entrar!"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lt1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32550" y="2449125"/>
            <a:ext cx="4076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✅ Correto! ✅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572000" y="2449125"/>
            <a:ext cx="4076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❌</a:t>
            </a: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Errado! ❌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332550" y="39418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Sem </a:t>
            </a:r>
            <a:r>
              <a:rPr lang="pt-BR" sz="16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indentação</a:t>
            </a:r>
            <a:r>
              <a:rPr lang="pt-BR" sz="16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, o Python não sabe que o print pertence ao IF e vai gerar um erro!</a:t>
            </a:r>
            <a:endParaRPr sz="16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223488" y="4336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1867517" y="433691"/>
            <a:ext cx="7053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Maria só </a:t>
            </a: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pode</a:t>
            </a: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entrar no parque se tiver mais de 5 anos. Como verificar isso?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631200" y="1304350"/>
            <a:ext cx="6297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7 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“Pode entrar!”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#Resultado: Pode entrar!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4" name="Google Shape;104;p18" title="menina_parque_final.png"/>
          <p:cNvPicPr preferRelativeResize="0"/>
          <p:nvPr/>
        </p:nvPicPr>
        <p:blipFill rotWithShape="1">
          <a:blip r:embed="rId3">
            <a:alphaModFix/>
          </a:blip>
          <a:srcRect b="8622" l="5718" r="4941" t="6761"/>
          <a:stretch/>
        </p:blipFill>
        <p:spPr>
          <a:xfrm>
            <a:off x="4763837" y="1158800"/>
            <a:ext cx="3421012" cy="32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631197" y="2696550"/>
            <a:ext cx="46758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Mas e se Maria tivesse 4 anos?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631200" y="3140050"/>
            <a:ext cx="6297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“Pode entrar!”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#Resultado: (Nada acontece)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Condicionais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311700" y="956375"/>
            <a:ext cx="2361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Comando ELSE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executado quando a condição do IF é falsa.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495250" y="2111350"/>
            <a:ext cx="4076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atravessar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800">
              <a:solidFill>
                <a:srgbClr val="8381D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atravessar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“Pode atravessar!”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“Você deve esperar!”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#Resultado: 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Você deve esperar!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5" name="Google Shape;115;p19" title="8a51ab45-6b50-49da-9d8f-a1cba18db9b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6000" y="1537625"/>
            <a:ext cx="2908600" cy="29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/>
        </p:nvSpPr>
        <p:spPr>
          <a:xfrm>
            <a:off x="223488" y="4336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1867517" y="433691"/>
            <a:ext cx="7053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Maria só pode entrar no parque se tiver mais de 5 anos. Como verificar isso com o </a:t>
            </a:r>
            <a:r>
              <a:rPr lang="pt-BR" sz="1800">
                <a:solidFill>
                  <a:srgbClr val="F7596D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631175" y="1826723"/>
            <a:ext cx="45747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 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“Pode entrar!”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“Não pode entrar.”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999999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#Resultado: Não pode entrar.</a:t>
            </a:r>
            <a:endParaRPr sz="1800">
              <a:solidFill>
                <a:srgbClr val="999999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3" name="Google Shape;123;p20" title="menina_parque_anya_style.png"/>
          <p:cNvPicPr preferRelativeResize="0"/>
          <p:nvPr/>
        </p:nvPicPr>
        <p:blipFill rotWithShape="1">
          <a:blip r:embed="rId3">
            <a:alphaModFix/>
          </a:blip>
          <a:srcRect b="8013" l="6031" r="3692" t="6743"/>
          <a:stretch/>
        </p:blipFill>
        <p:spPr>
          <a:xfrm>
            <a:off x="4482275" y="800325"/>
            <a:ext cx="3752026" cy="354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Condicionais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11700" y="956375"/>
            <a:ext cx="448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Comando ELIF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Usado para verificar uma nova condição quando a anterior é falsa.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311700" y="2090950"/>
            <a:ext cx="66456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sinal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“amarelo”</a:t>
            </a:r>
            <a:endParaRPr sz="1800">
              <a:solidFill>
                <a:srgbClr val="F1E1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sinal == 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“verde”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“Você pode passar!”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elif </a:t>
            </a:r>
            <a:r>
              <a:rPr lang="pt-BR" sz="1800">
                <a:solidFill>
                  <a:schemeClr val="lt1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sinal == 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“amarelo”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“O sinal está fechando!”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“Pare! O sinal está fechado.”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6666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#Resposta: O sinal está fechando!</a:t>
            </a:r>
            <a:endParaRPr sz="1800">
              <a:solidFill>
                <a:srgbClr val="6666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2100" y="1694922"/>
            <a:ext cx="2863926" cy="286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/>
        </p:nvSpPr>
        <p:spPr>
          <a:xfrm>
            <a:off x="223488" y="4336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Exemplo: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867523" y="433700"/>
            <a:ext cx="52011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Pedro quer saber qual nível de jogador ele é baseado na sua pontuação.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631200" y="1304350"/>
            <a:ext cx="62970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pontuacao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75</a:t>
            </a:r>
            <a:endParaRPr sz="1800">
              <a:solidFill>
                <a:srgbClr val="8381D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pontuacao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90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"Nível: Mestre"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elif 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pontuacao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60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"Nível: Avançado"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elif 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pontuacao 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381D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"Nível: Iniciante"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7BD88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1E1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"Nível: Novato"</a:t>
            </a:r>
            <a:r>
              <a:rPr lang="pt-BR" sz="1800">
                <a:solidFill>
                  <a:srgbClr val="F7596D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F7596D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666666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#Resposta: Nível: Avançado</a:t>
            </a:r>
            <a:endParaRPr sz="1800">
              <a:solidFill>
                <a:srgbClr val="666666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0" name="Google Shape;140;p22" title="fixed_avancado_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100" y="653855"/>
            <a:ext cx="3273674" cy="383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3" title="_- visual selection (12).png"/>
          <p:cNvPicPr preferRelativeResize="0"/>
          <p:nvPr/>
        </p:nvPicPr>
        <p:blipFill rotWithShape="1">
          <a:blip r:embed="rId3">
            <a:alphaModFix/>
          </a:blip>
          <a:srcRect b="9425" l="1747" r="2815" t="8622"/>
          <a:stretch/>
        </p:blipFill>
        <p:spPr>
          <a:xfrm>
            <a:off x="463050" y="241125"/>
            <a:ext cx="8366397" cy="424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