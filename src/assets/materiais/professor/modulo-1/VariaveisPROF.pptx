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B4C104-A0B9-41D1-9651-3598A2D93B25}">
  <a:tblStyle styleId="{A4B4C104-A0B9-41D1-9651-3598A2D93B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d3c657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d3c65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3c63948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3c63948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c2303bb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c2303bb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computador não posui exatamente um espaço na memória que se chama gaveta3; gaveta3 é uma máscara para o endereço real da memória o computador.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 é uma forma de acessar na memória o valor guardado nela.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memória trabalha geralmente com formas muito grandes de referenciar espaços como “0022FF20”, então usar variável é uma abstração que facilita o uso para o programador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Observação: na programação, ao atribuir uma variável, não é necessário saber o endereço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c2303b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1c2303b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computador não posui exatamente um espaço na memória que se chama gaveta3; gaveta3 é uma máscara para o endereço real da memória o computador.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 é uma forma de acessar na memória o valor guardado nela.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memória trabalha geralmente com formas muito grandes de referenciar espaços como “0022FF20”, então usar variável é uma abstração que facilita o uso para o programador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Observação: na programação, ao atribuir uma variável, não é necessário saber o endereço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7073e20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7073e2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importante que o nome das variáveis seja descritivo para que seja clara a intenção de uso dela.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Ressaltar: o = não é o “igual” da matemática. É uma seta de atribuição, equivale a “colocar isso aqui dentro”.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Explicar que a Atribuição de Variável é essa etapa de nomear e atribuir valor a variável.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d3c657e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6d3c657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Destaca-se aqui a grande importância de se usar variáveis, justamente pelo fato de ser posível alterar seu valor.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Isso é importante mais a frente, para evitar repetição de código e correções.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d3c657e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6d3c657e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Existem diferentes tipos de dados que podem ser guardados numa variável e eles são guardadas de acordo com o seu tipo.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Python possui tipagem dinâmica, ou seja, uma variável pode começar contendo um valor o tipo int e depois ser mudado para str.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Existem linguagens que é necessário declarar o tipo da variável para poder utiliza-la e só será aceito manipulação de dados de acordo com esse tipo especificado previamente.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6d3c657e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6d3c657e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que significa ler de cima para baixo? Significa que o compilador sempre vai considerar o último valor atribuído a uma variável e que a execução será na ordem em que os comandos aparecem.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Dê o exemplo da leitura de um livro: </a:t>
            </a:r>
            <a:r>
              <a:rPr lang="pt-BR" sz="1200">
                <a:solidFill>
                  <a:schemeClr val="dk1"/>
                </a:solidFill>
              </a:rPr>
              <a:t> No texto, você não pode mencionar um personagem como se o leitor já o conhecesse sem antes apresentá-lo. Um parágrafo que começa com </a:t>
            </a:r>
            <a:r>
              <a:rPr i="1" lang="pt-BR" sz="1200">
                <a:solidFill>
                  <a:schemeClr val="dk1"/>
                </a:solidFill>
              </a:rPr>
              <a:t>"Por isso, Você-Sabe-Quem é tão perigoso"</a:t>
            </a:r>
            <a:r>
              <a:rPr lang="pt-BR" sz="1200">
                <a:solidFill>
                  <a:schemeClr val="dk1"/>
                </a:solidFill>
              </a:rPr>
              <a:t> confunde quem ainda não sabe que </a:t>
            </a:r>
            <a:r>
              <a:rPr i="1" lang="pt-BR" sz="1200">
                <a:solidFill>
                  <a:schemeClr val="dk1"/>
                </a:solidFill>
              </a:rPr>
              <a:t>Você-Sabe-Quem </a:t>
            </a:r>
            <a:r>
              <a:rPr lang="pt-BR" sz="1200">
                <a:solidFill>
                  <a:schemeClr val="dk1"/>
                </a:solidFill>
              </a:rPr>
              <a:t>é o</a:t>
            </a:r>
            <a:r>
              <a:rPr i="1" lang="pt-BR" sz="1200">
                <a:solidFill>
                  <a:schemeClr val="dk1"/>
                </a:solidFill>
              </a:rPr>
              <a:t> Lorde Voldemort</a:t>
            </a:r>
            <a:r>
              <a:rPr lang="pt-BR" sz="1200">
                <a:solidFill>
                  <a:schemeClr val="dk1"/>
                </a:solidFill>
              </a:rPr>
              <a:t>. Assim como Harry Potter fica confuso ao ouvir isso pela primeira vez.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c2303b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1c2303b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6d3c657e2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6d3c657e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Pergunte o que há de errado no código. Barra(/) serve para divisão real.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 seja, quando se chama as variáveis total e n, elas não existem ainda, então dá erro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d3c657e2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6d3c657e2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19100" y="4279750"/>
            <a:ext cx="463700" cy="43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Projeto Wanda</a:t>
            </a:r>
            <a:endParaRPr b="1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956375"/>
            <a:ext cx="4598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Já precisou guardar coisas?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" name="Google Shape;63;p14" title="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225" y="2285400"/>
            <a:ext cx="1636750" cy="19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050" y="2133550"/>
            <a:ext cx="1915550" cy="19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003525" y="1750950"/>
            <a:ext cx="246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pote de vidro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449450" y="1750950"/>
            <a:ext cx="270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Gaveta de roupas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956375"/>
            <a:ext cx="19662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3" name="Google Shape;73;p15" title="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054" y="1379875"/>
            <a:ext cx="2454690" cy="299839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280202" y="3564133"/>
            <a:ext cx="12963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9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Terceira gaveta</a:t>
            </a:r>
            <a:endParaRPr b="1" sz="199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963901" y="2428235"/>
            <a:ext cx="16134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150" lIns="101150" spcFirstLastPara="1" rIns="101150" wrap="square" tIns="10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9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Roupas</a:t>
            </a:r>
            <a:endParaRPr b="1" sz="199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5426170" y="2704333"/>
            <a:ext cx="964800" cy="313200"/>
          </a:xfrm>
          <a:prstGeom prst="straightConnector1">
            <a:avLst/>
          </a:prstGeom>
          <a:noFill/>
          <a:ln cap="flat" cmpd="sng" w="21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 flipH="1" rot="10800000">
            <a:off x="5576935" y="3651017"/>
            <a:ext cx="543000" cy="322500"/>
          </a:xfrm>
          <a:prstGeom prst="straightConnector1">
            <a:avLst/>
          </a:prstGeom>
          <a:noFill/>
          <a:ln cap="flat" cmpd="sng" w="21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 txBox="1"/>
          <p:nvPr/>
        </p:nvSpPr>
        <p:spPr>
          <a:xfrm>
            <a:off x="311700" y="1439075"/>
            <a:ext cx="5202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 variáveis são uma forma de armazenar os dados que precisamos no nosso algoritmo.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1700" y="27043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 rot="5404791">
            <a:off x="1525449" y="3305526"/>
            <a:ext cx="430500" cy="27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59850" y="36017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programação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o '=' significa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atribuição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valor, e </a:t>
            </a:r>
            <a:r>
              <a:rPr b="1"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não igualdade</a:t>
            </a: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49300" y="101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funciona no computador…</a:t>
            </a:r>
            <a:endParaRPr sz="2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19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42225"/>
            <a:ext cx="1977600" cy="184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325" y="2144250"/>
            <a:ext cx="1283849" cy="85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7100" y="2142236"/>
            <a:ext cx="1623301" cy="16232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5062163" y="2489050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3537" y="1988675"/>
            <a:ext cx="462776" cy="4627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6"/>
          <p:cNvGraphicFramePr/>
          <p:nvPr/>
        </p:nvGraphicFramePr>
        <p:xfrm>
          <a:off x="6188213" y="264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{A4B4C104-A0B9-41D1-9651-3598A2D93B25}</a:tableStyleId>
              </a:tblPr>
              <a:tblGrid>
                <a:gridCol w="1291950"/>
                <a:gridCol w="1062350"/>
              </a:tblGrid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0022FF20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“camisa”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0022FF24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6"/>
          <p:cNvSpPr txBox="1"/>
          <p:nvPr/>
        </p:nvSpPr>
        <p:spPr>
          <a:xfrm>
            <a:off x="6188213" y="2261300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Endereço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480177" y="2261300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Conteúdo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700963" y="2443688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97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funciona no computador…</a:t>
            </a:r>
            <a:endParaRPr sz="20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2" name="Google Shape;102;p17"/>
          <p:cNvGraphicFramePr/>
          <p:nvPr/>
        </p:nvGraphicFramePr>
        <p:xfrm>
          <a:off x="4333913" y="22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{A4B4C104-A0B9-41D1-9651-3598A2D93B25}</a:tableStyleId>
              </a:tblPr>
              <a:tblGrid>
                <a:gridCol w="1481925"/>
                <a:gridCol w="1218525"/>
              </a:tblGrid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0022FF20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“camisa”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0022FF24</a:t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7"/>
          <p:cNvSpPr/>
          <p:nvPr/>
        </p:nvSpPr>
        <p:spPr>
          <a:xfrm>
            <a:off x="7095688" y="2302454"/>
            <a:ext cx="114600" cy="416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42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675" lIns="109675" spcFirstLastPara="1" rIns="109675" wrap="square" tIns="10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7271625" y="2251450"/>
            <a:ext cx="13137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675" lIns="109675" spcFirstLastPara="1" rIns="109675" wrap="square" tIns="10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2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gaveta3</a:t>
            </a:r>
            <a:endParaRPr sz="192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432063" y="1751075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Endereço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815852" y="1751075"/>
            <a:ext cx="1246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Conteúdo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81075" y="2358675"/>
            <a:ext cx="2957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463288" y="2472375"/>
            <a:ext cx="745500" cy="34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45025"/>
            <a:ext cx="19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 sz="24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956375"/>
            <a:ext cx="2287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Nomenclatura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360825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Correto: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804000" y="2211950"/>
            <a:ext cx="1544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4gaveta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168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912325" y="1553350"/>
            <a:ext cx="448500" cy="4221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1252500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Errado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04000" y="1553350"/>
            <a:ext cx="448500" cy="4221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6360825" y="1553350"/>
            <a:ext cx="15669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Correto: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912325" y="1553350"/>
            <a:ext cx="448500" cy="422100"/>
          </a:xfrm>
          <a:prstGeom prst="donut">
            <a:avLst>
              <a:gd fmla="val 25000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804000" y="2868297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pote bonito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4" name="Google Shape;124;p18"/>
          <p:cNvSpPr txBox="1"/>
          <p:nvPr/>
        </p:nvSpPr>
        <p:spPr>
          <a:xfrm>
            <a:off x="804000" y="3659619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caixa@1!#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5" name="Google Shape;125;p18"/>
          <p:cNvSpPr txBox="1"/>
          <p:nvPr/>
        </p:nvSpPr>
        <p:spPr>
          <a:xfrm>
            <a:off x="5837697" y="2211950"/>
            <a:ext cx="1544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gaveta4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168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837697" y="2868297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pote_bonito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  <p:sp>
        <p:nvSpPr>
          <p:cNvPr id="127" name="Google Shape;127;p18"/>
          <p:cNvSpPr txBox="1"/>
          <p:nvPr/>
        </p:nvSpPr>
        <p:spPr>
          <a:xfrm>
            <a:off x="5837697" y="3659619"/>
            <a:ext cx="2254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6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caixa1</a:t>
            </a:r>
            <a:r>
              <a:rPr lang="pt-BR" sz="2168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8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19" title="Designer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250" y="1826075"/>
            <a:ext cx="3669925" cy="3137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6265416" y="3104946"/>
            <a:ext cx="264600" cy="470100"/>
          </a:xfrm>
          <a:prstGeom prst="rect">
            <a:avLst/>
          </a:prstGeom>
          <a:solidFill>
            <a:srgbClr val="3120BA"/>
          </a:solidFill>
          <a:ln cap="flat" cmpd="sng" w="7825">
            <a:solidFill>
              <a:srgbClr val="3120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sp>
        <p:nvSpPr>
          <p:cNvPr id="135" name="Google Shape;135;p19"/>
          <p:cNvSpPr/>
          <p:nvPr/>
        </p:nvSpPr>
        <p:spPr>
          <a:xfrm>
            <a:off x="6265416" y="3016011"/>
            <a:ext cx="125400" cy="207300"/>
          </a:xfrm>
          <a:prstGeom prst="rect">
            <a:avLst/>
          </a:prstGeom>
          <a:solidFill>
            <a:srgbClr val="3120BA"/>
          </a:solidFill>
          <a:ln cap="flat" cmpd="sng" w="7825">
            <a:solidFill>
              <a:srgbClr val="3120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sp>
        <p:nvSpPr>
          <p:cNvPr id="136" name="Google Shape;136;p19"/>
          <p:cNvSpPr txBox="1"/>
          <p:nvPr/>
        </p:nvSpPr>
        <p:spPr>
          <a:xfrm>
            <a:off x="381075" y="2358675"/>
            <a:ext cx="29571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 = 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"camisa"</a:t>
            </a:r>
            <a:endParaRPr sz="22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gaveta3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22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22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"calca"</a:t>
            </a:r>
            <a:endParaRPr sz="22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311700" y="979000"/>
            <a:ext cx="83667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Assim como podemos mudar o que tem dentro da gaveta, o valor de uma variável também pode mudar ao longo do código.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36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00" y="874625"/>
            <a:ext cx="2623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Tipos de Dados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311700" y="1705600"/>
            <a:ext cx="1308300" cy="1937800"/>
            <a:chOff x="517825" y="1705600"/>
            <a:chExt cx="1308300" cy="1937800"/>
          </a:xfrm>
        </p:grpSpPr>
        <p:sp>
          <p:nvSpPr>
            <p:cNvPr id="145" name="Google Shape;145;p20"/>
            <p:cNvSpPr txBox="1"/>
            <p:nvPr/>
          </p:nvSpPr>
          <p:spPr>
            <a:xfrm>
              <a:off x="807463" y="1705600"/>
              <a:ext cx="7290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int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599563" y="2267000"/>
              <a:ext cx="11448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dados inteiros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517825" y="2955200"/>
              <a:ext cx="13083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idade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temp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-3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1791350" y="1705600"/>
            <a:ext cx="2028191" cy="1732300"/>
            <a:chOff x="2240726" y="1705600"/>
            <a:chExt cx="2018100" cy="1732300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2607013" y="1705600"/>
              <a:ext cx="10794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float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368813" y="2267000"/>
              <a:ext cx="15558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dados fracionários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2240726" y="2955200"/>
              <a:ext cx="20181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altura_m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1.67</a:t>
              </a:r>
              <a:r>
                <a:rPr i="1" lang="pt-BR" sz="1800">
                  <a:solidFill>
                    <a:schemeClr val="lt1"/>
                  </a:solidFill>
                </a:rPr>
                <a:t> 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3991025" y="1705600"/>
            <a:ext cx="2430936" cy="1837900"/>
            <a:chOff x="3990652" y="1705600"/>
            <a:chExt cx="2736000" cy="1837900"/>
          </a:xfrm>
        </p:grpSpPr>
        <p:sp>
          <p:nvSpPr>
            <p:cNvPr id="153" name="Google Shape;153;p20"/>
            <p:cNvSpPr txBox="1"/>
            <p:nvPr/>
          </p:nvSpPr>
          <p:spPr>
            <a:xfrm>
              <a:off x="4867101" y="1705600"/>
              <a:ext cx="8001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str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4659188" y="2267000"/>
              <a:ext cx="11448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textos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20"/>
            <p:cNvSpPr txBox="1"/>
            <p:nvPr/>
          </p:nvSpPr>
          <p:spPr>
            <a:xfrm>
              <a:off x="3990652" y="2749700"/>
              <a:ext cx="27360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nome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“Maria” </a:t>
              </a:r>
              <a:endParaRPr i="1" sz="1800">
                <a:solidFill>
                  <a:schemeClr val="lt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5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celular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“49991440”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56" name="Google Shape;156;p20"/>
          <p:cNvGrpSpPr/>
          <p:nvPr/>
        </p:nvGrpSpPr>
        <p:grpSpPr>
          <a:xfrm>
            <a:off x="6472538" y="1758400"/>
            <a:ext cx="2481900" cy="2031700"/>
            <a:chOff x="6144288" y="1705600"/>
            <a:chExt cx="2481900" cy="2031700"/>
          </a:xfrm>
        </p:grpSpPr>
        <p:sp>
          <p:nvSpPr>
            <p:cNvPr id="157" name="Google Shape;157;p20"/>
            <p:cNvSpPr txBox="1"/>
            <p:nvPr/>
          </p:nvSpPr>
          <p:spPr>
            <a:xfrm>
              <a:off x="6845538" y="1705600"/>
              <a:ext cx="10794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000">
                  <a:solidFill>
                    <a:srgbClr val="00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bool</a:t>
              </a:r>
              <a:endParaRPr sz="30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6144288" y="2267000"/>
              <a:ext cx="2481900" cy="74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valores verdadeiros e falsos</a:t>
              </a: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20"/>
            <p:cNvSpPr txBox="1"/>
            <p:nvPr/>
          </p:nvSpPr>
          <p:spPr>
            <a:xfrm>
              <a:off x="6304150" y="2955200"/>
              <a:ext cx="2128200" cy="7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passou</a:t>
              </a: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True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600">
                  <a:solidFill>
                    <a:srgbClr val="F8F8F2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reprovado = </a:t>
              </a:r>
              <a:r>
                <a:rPr lang="pt-BR" sz="1600">
                  <a:solidFill>
                    <a:srgbClr val="F1FA8C"/>
                  </a:solidFill>
                  <a:highlight>
                    <a:srgbClr val="282A36"/>
                  </a:highlight>
                  <a:latin typeface="Consolas"/>
                  <a:ea typeface="Consolas"/>
                  <a:cs typeface="Consolas"/>
                  <a:sym typeface="Consolas"/>
                </a:rPr>
                <a:t>False</a:t>
              </a:r>
              <a:endParaRPr sz="16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pt-BR" sz="1800">
                  <a:solidFill>
                    <a:schemeClr val="lt1"/>
                  </a:solidFill>
                </a:rPr>
                <a:t> </a:t>
              </a:r>
              <a:endParaRPr i="1" sz="18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11700" y="1017725"/>
            <a:ext cx="81618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programação lê-se de </a:t>
            </a:r>
            <a:r>
              <a:rPr b="1" lang="pt-BR" sz="18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cima para baixo e linha por linha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1" title="Designer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300" y="1894000"/>
            <a:ext cx="4096976" cy="23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5137525" y="2193950"/>
            <a:ext cx="35430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compilador sempre vai considerar o último valor atribuído a uma variável e a execução dos comandos se dá na ordem de aparição.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403400" y="48710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82600" y="2106725"/>
            <a:ext cx="3674400" cy="18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y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 = x + y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4677000" y="2230625"/>
            <a:ext cx="38844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 linha 1 do código, x é atribuído com valor 6, porém, na linha 3, é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reatribuído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 valor 3. Logo, o valor de x usado na soma é o da linha 3.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524850" y="1294625"/>
            <a:ext cx="367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 o valor de x será usado?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941475" y="2378300"/>
            <a:ext cx="3254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parte = total / n</a:t>
            </a:r>
            <a:endParaRPr sz="25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 = </a:t>
            </a:r>
            <a:r>
              <a:rPr lang="pt-BR" sz="25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25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03400" y="48710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133813" y="2458250"/>
            <a:ext cx="30687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variável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parte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não é calculada, porque</a:t>
            </a:r>
            <a:r>
              <a:rPr lang="pt-BR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</a:t>
            </a:r>
            <a:r>
              <a:rPr lang="pt-BR" sz="1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pt-BR" sz="1800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são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atribuídos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após a 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r>
              <a:rPr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parte.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24850" y="1294625"/>
            <a:ext cx="5077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Consegue notar o erro abaixo</a:t>
            </a:r>
            <a:r>
              <a:rPr lang="pt-BR"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?</a:t>
            </a:r>
            <a:endParaRPr sz="1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