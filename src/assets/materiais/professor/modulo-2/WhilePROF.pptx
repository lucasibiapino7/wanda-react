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Poppins Medium"/>
      <p:regular r:id="rId18"/>
      <p:bold r:id="rId19"/>
      <p:italic r:id="rId20"/>
      <p:boldItalic r:id="rId21"/>
    </p:embeddedFont>
    <p:embeddedFont>
      <p:font typeface="Poppins SemiBold"/>
      <p:regular r:id="rId22"/>
      <p:bold r:id="rId23"/>
      <p:italic r:id="rId24"/>
      <p:boldItalic r:id="rId25"/>
    </p:embeddedFont>
    <p:embeddedFont>
      <p:font typeface="Poppins ExtraBold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italic.fntdata"/><Relationship Id="rId22" Type="http://schemas.openxmlformats.org/officeDocument/2006/relationships/font" Target="fonts/PoppinsSemiBold-regular.fntdata"/><Relationship Id="rId21" Type="http://schemas.openxmlformats.org/officeDocument/2006/relationships/font" Target="fonts/PoppinsMedium-boldItalic.fntdata"/><Relationship Id="rId24" Type="http://schemas.openxmlformats.org/officeDocument/2006/relationships/font" Target="fonts/PoppinsSemiBold-italic.fntdata"/><Relationship Id="rId23" Type="http://schemas.openxmlformats.org/officeDocument/2006/relationships/font" Target="fonts/Poppins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ExtraBold-bold.fntdata"/><Relationship Id="rId25" Type="http://schemas.openxmlformats.org/officeDocument/2006/relationships/font" Target="fonts/PoppinsSemiBold-boldItalic.fntdata"/><Relationship Id="rId27" Type="http://schemas.openxmlformats.org/officeDocument/2006/relationships/font" Target="fonts/Poppins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PoppinsMedium-bold.fntdata"/><Relationship Id="rId18" Type="http://schemas.openxmlformats.org/officeDocument/2006/relationships/font" Target="fonts/Poppi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2a9de9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2a9de9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Um loop é uma instrução que diz repita esse bloco de código enquanto uma condição for verdadeira ou por um número fixo de vezes.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92a9de9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92a9de9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Reforçar: o bloco dentro do loop obedece indentação, igual ao if/else do módulo anterior.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O loop usa a mesma lógica de condição, mas em vez de decidir uma vez, ele verifica o tempo todo.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92a9de99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92a9de99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2a9de9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92a9de9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loop se torna infinito porque a condição de existência do loop sempre é verdadeira.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2a9de99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92a9de99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alunos devem tentar responder as perguntas antes de tentar implementar o código.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92a9de99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92a9de99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953878eed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953878eed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Comando While</a:t>
            </a:r>
            <a:endParaRPr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Projeto Wanda</a:t>
            </a:r>
            <a:endParaRPr>
              <a:solidFill>
                <a:srgbClr val="00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01925" y="2827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Laços de Repetição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01925" y="794075"/>
            <a:ext cx="2599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Ideia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22775" y="1383750"/>
            <a:ext cx="994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98225" y="1330263"/>
            <a:ext cx="82197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Pense num atleta, ele corre do 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início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 corrida e só para quando chegar a linha de chegada. A ideia de um loop é essa repetir algo até alcançar uma condição 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específica.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" name="Google Shape;64;p14" title="Designer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475" y="2724100"/>
            <a:ext cx="2053125" cy="192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4"/>
          <p:cNvGrpSpPr/>
          <p:nvPr/>
        </p:nvGrpSpPr>
        <p:grpSpPr>
          <a:xfrm>
            <a:off x="1602875" y="2571750"/>
            <a:ext cx="1464750" cy="2266949"/>
            <a:chOff x="1602875" y="2571750"/>
            <a:chExt cx="1464750" cy="2266949"/>
          </a:xfrm>
        </p:grpSpPr>
        <p:pic>
          <p:nvPicPr>
            <p:cNvPr id="66" name="Google Shape;66;p14" title="ChatGPT Image 24 de abr. de 2026, 13_34_03.png"/>
            <p:cNvPicPr preferRelativeResize="0"/>
            <p:nvPr/>
          </p:nvPicPr>
          <p:blipFill rotWithShape="1">
            <a:blip r:embed="rId4">
              <a:alphaModFix/>
            </a:blip>
            <a:srcRect b="0" l="24546" r="10842" t="0"/>
            <a:stretch/>
          </p:blipFill>
          <p:spPr>
            <a:xfrm flipH="1">
              <a:off x="1602875" y="2571750"/>
              <a:ext cx="1464750" cy="2266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 title="ChatGPT Image 24 de abr. de 2026, 13_34_03.png"/>
            <p:cNvPicPr preferRelativeResize="0"/>
            <p:nvPr/>
          </p:nvPicPr>
          <p:blipFill rotWithShape="1">
            <a:blip r:embed="rId4">
              <a:alphaModFix/>
            </a:blip>
            <a:srcRect b="60873" l="49332" r="37114" t="30585"/>
            <a:stretch/>
          </p:blipFill>
          <p:spPr>
            <a:xfrm rot="-310058">
              <a:off x="2181613" y="3270899"/>
              <a:ext cx="307274" cy="1936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691200" y="3513325"/>
            <a:ext cx="2430900" cy="847800"/>
          </a:xfrm>
          <a:prstGeom prst="roundRect">
            <a:avLst>
              <a:gd fmla="val 16667" name="adj"/>
            </a:avLst>
          </a:prstGeom>
          <a:solidFill>
            <a:srgbClr val="1F1F70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Faço o comando pedido</a:t>
            </a:r>
            <a:endParaRPr sz="1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732100" y="3510850"/>
            <a:ext cx="1576800" cy="755400"/>
          </a:xfrm>
          <a:prstGeom prst="roundRect">
            <a:avLst>
              <a:gd fmla="val 16667" name="adj"/>
            </a:avLst>
          </a:prstGeom>
          <a:solidFill>
            <a:srgbClr val="1F1F70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Saio do Loop</a:t>
            </a:r>
            <a:endParaRPr sz="1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6098550" y="2773550"/>
            <a:ext cx="843900" cy="368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Não</a:t>
            </a:r>
            <a:endParaRPr sz="1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2549350" y="1806950"/>
            <a:ext cx="3319800" cy="647400"/>
          </a:xfrm>
          <a:prstGeom prst="roundRect">
            <a:avLst>
              <a:gd fmla="val 16667" name="adj"/>
            </a:avLst>
          </a:prstGeom>
          <a:solidFill>
            <a:srgbClr val="31B9DD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Condição Verdadeira?</a:t>
            </a:r>
            <a:endParaRPr sz="1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536950" y="1017725"/>
            <a:ext cx="1344600" cy="476400"/>
          </a:xfrm>
          <a:prstGeom prst="roundRect">
            <a:avLst>
              <a:gd fmla="val 16667" name="adj"/>
            </a:avLst>
          </a:prstGeom>
          <a:solidFill>
            <a:srgbClr val="FF5EF7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Início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32550" y="325950"/>
            <a:ext cx="326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Laços de Repetição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32550" y="837300"/>
            <a:ext cx="2599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Ideia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32550" y="1546050"/>
            <a:ext cx="994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067613" y="3190325"/>
            <a:ext cx="843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Volta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1" name="Google Shape;81;p15"/>
          <p:cNvCxnSpPr>
            <a:stCxn id="76" idx="2"/>
            <a:endCxn id="75" idx="0"/>
          </p:cNvCxnSpPr>
          <p:nvPr/>
        </p:nvCxnSpPr>
        <p:spPr>
          <a:xfrm flipH="1" rot="-5400000">
            <a:off x="4053100" y="1650275"/>
            <a:ext cx="312900" cy="600"/>
          </a:xfrm>
          <a:prstGeom prst="curvedConnector3">
            <a:avLst>
              <a:gd fmla="val 49988" name="adj1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5"/>
          <p:cNvCxnSpPr>
            <a:stCxn id="75" idx="3"/>
            <a:endCxn id="74" idx="0"/>
          </p:cNvCxnSpPr>
          <p:nvPr/>
        </p:nvCxnSpPr>
        <p:spPr>
          <a:xfrm>
            <a:off x="5869150" y="2130650"/>
            <a:ext cx="651300" cy="642900"/>
          </a:xfrm>
          <a:prstGeom prst="curvedConnector2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5"/>
          <p:cNvCxnSpPr>
            <a:stCxn id="74" idx="2"/>
            <a:endCxn id="73" idx="0"/>
          </p:cNvCxnSpPr>
          <p:nvPr/>
        </p:nvCxnSpPr>
        <p:spPr>
          <a:xfrm flipH="1" rot="-5400000">
            <a:off x="6336150" y="3326000"/>
            <a:ext cx="369300" cy="600"/>
          </a:xfrm>
          <a:prstGeom prst="curvedConnector3">
            <a:avLst>
              <a:gd fmla="val 49986" name="adj1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5"/>
          <p:cNvCxnSpPr>
            <a:stCxn id="72" idx="3"/>
            <a:endCxn id="75" idx="2"/>
          </p:cNvCxnSpPr>
          <p:nvPr/>
        </p:nvCxnSpPr>
        <p:spPr>
          <a:xfrm flipH="1" rot="10800000">
            <a:off x="3122100" y="2454325"/>
            <a:ext cx="1087200" cy="1482900"/>
          </a:xfrm>
          <a:prstGeom prst="curvedConnector2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5"/>
          <p:cNvSpPr/>
          <p:nvPr/>
        </p:nvSpPr>
        <p:spPr>
          <a:xfrm flipH="1">
            <a:off x="1484700" y="2773550"/>
            <a:ext cx="843900" cy="368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Sim</a:t>
            </a:r>
            <a:endParaRPr sz="1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86" name="Google Shape;86;p15"/>
          <p:cNvCxnSpPr>
            <a:stCxn id="75" idx="1"/>
            <a:endCxn id="85" idx="0"/>
          </p:cNvCxnSpPr>
          <p:nvPr/>
        </p:nvCxnSpPr>
        <p:spPr>
          <a:xfrm flipH="1">
            <a:off x="1906750" y="2130650"/>
            <a:ext cx="642600" cy="642900"/>
          </a:xfrm>
          <a:prstGeom prst="curvedConnector2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5"/>
          <p:cNvCxnSpPr>
            <a:stCxn id="85" idx="2"/>
            <a:endCxn id="72" idx="0"/>
          </p:cNvCxnSpPr>
          <p:nvPr/>
        </p:nvCxnSpPr>
        <p:spPr>
          <a:xfrm flipH="1" rot="-5400000">
            <a:off x="1721100" y="3327200"/>
            <a:ext cx="371700" cy="600"/>
          </a:xfrm>
          <a:prstGeom prst="curvedConnector3">
            <a:avLst>
              <a:gd fmla="val 49997" name="adj1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/>
        </p:nvSpPr>
        <p:spPr>
          <a:xfrm>
            <a:off x="242050" y="190225"/>
            <a:ext cx="326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Comando While</a:t>
            </a:r>
            <a:endParaRPr sz="24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242050" y="636425"/>
            <a:ext cx="2050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Como usar?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303750" y="1119125"/>
            <a:ext cx="85365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Você não sabe quantas vezes vai repetir, apenas define uma condição. Enquanto ela for verdadeira, o loop continua. </a:t>
            </a:r>
            <a:endParaRPr sz="1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895550" y="2350825"/>
            <a:ext cx="5352900" cy="26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contador </a:t>
            </a:r>
            <a:r>
              <a:rPr lang="pt-BR" sz="15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5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500">
              <a:solidFill>
                <a:srgbClr val="AE81F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nao_chegou </a:t>
            </a:r>
            <a:r>
              <a:rPr lang="pt-BR" sz="15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5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500">
              <a:solidFill>
                <a:srgbClr val="AE81F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nao_chegou: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resposta </a:t>
            </a:r>
            <a:r>
              <a:rPr lang="pt-BR" sz="15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500">
                <a:solidFill>
                  <a:srgbClr val="A6E22E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500">
                <a:solidFill>
                  <a:srgbClr val="E6DB74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"Viu um carro azul? (s/n):"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5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resposta </a:t>
            </a:r>
            <a:r>
              <a:rPr lang="pt-BR" sz="15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500">
                <a:solidFill>
                  <a:srgbClr val="E6DB74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: contador </a:t>
            </a:r>
            <a:r>
              <a:rPr lang="pt-BR" sz="15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5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500">
              <a:solidFill>
                <a:srgbClr val="AE81F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resposta </a:t>
            </a:r>
            <a:r>
              <a:rPr lang="pt-BR" sz="15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500">
                <a:solidFill>
                  <a:srgbClr val="A6E22E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500">
                <a:solidFill>
                  <a:srgbClr val="E6DB74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"Chegou em casa? (s/n): "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5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resposta </a:t>
            </a:r>
            <a:r>
              <a:rPr lang="pt-BR" sz="15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500">
                <a:solidFill>
                  <a:srgbClr val="E6DB74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: nao_chegou </a:t>
            </a:r>
            <a:r>
              <a:rPr lang="pt-BR" sz="15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5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500">
              <a:solidFill>
                <a:srgbClr val="AE81F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rgbClr val="A6E22E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5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(contador)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AE81F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1681050" y="1868225"/>
            <a:ext cx="5781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D56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Condição:</a:t>
            </a:r>
            <a:r>
              <a:rPr lang="pt-BR" sz="17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1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Contar carros azuis até chegar em casa.</a:t>
            </a:r>
            <a:endParaRPr sz="1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/>
        </p:nvSpPr>
        <p:spPr>
          <a:xfrm>
            <a:off x="368550" y="459250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OBSERVAÇÃO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68550" y="970600"/>
            <a:ext cx="2304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Limite do Loop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68550" y="1535400"/>
            <a:ext cx="58998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 não atualizamos a 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variável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que determina a condição de parada do loop, ele se torna infinito.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4723800" y="2931825"/>
            <a:ext cx="4009500" cy="17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contador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solidFill>
                <a:srgbClr val="AE81F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contador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600">
                <a:solidFill>
                  <a:srgbClr val="A6E22E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(contador)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600">
                <a:solidFill>
                  <a:srgbClr val="88846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#loop infinito</a:t>
            </a:r>
            <a:endParaRPr sz="1600">
              <a:solidFill>
                <a:srgbClr val="88846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88846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#saida: 0, 0, 0, 0, 0…</a:t>
            </a:r>
            <a:endParaRPr sz="1600">
              <a:solidFill>
                <a:srgbClr val="88846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32550" y="2449125"/>
            <a:ext cx="4076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Correto! ✅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4572000" y="2449125"/>
            <a:ext cx="4076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❌ Errado! ❌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484350" y="2931825"/>
            <a:ext cx="3773100" cy="17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contador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solidFill>
                <a:srgbClr val="AE81F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contador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600">
                <a:solidFill>
                  <a:srgbClr val="A6E22E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(contador)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contador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contador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solidFill>
                <a:srgbClr val="AE81F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rgbClr val="88846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#saida: 0, 1, 2, 3, 4, 5</a:t>
            </a:r>
            <a:endParaRPr sz="1600">
              <a:solidFill>
                <a:srgbClr val="AE81F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/>
        </p:nvSpPr>
        <p:spPr>
          <a:xfrm>
            <a:off x="251938" y="248875"/>
            <a:ext cx="17157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Exemplos: </a:t>
            </a:r>
            <a:endParaRPr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1895975" y="248900"/>
            <a:ext cx="54540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José </a:t>
            </a: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quer checar se ele perdeu num</a:t>
            </a: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jogo com base no input que ele colocar no código</a:t>
            </a: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Como verificar isso?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8" title="10004182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550" y="973975"/>
            <a:ext cx="3337402" cy="333740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345600" y="1327300"/>
            <a:ext cx="5899800" cy="3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jogo ele tem 3 vidas, se ele perder ou não uma delas deve ser informado após o input. Quando zerar suas vidas ele recebe a mensagem de 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Game Over.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Pense: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AutoNum type="arabicPeriod"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Qual variável vai controlar a condição do loop?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AutoNum type="arabicPeriod"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Quando o loop deve parar? E o que ele deve fazer quando parar? 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AutoNum type="arabicPeriod"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Enquanto o loop estiver rodando o que deve acontecer?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/>
        </p:nvSpPr>
        <p:spPr>
          <a:xfrm>
            <a:off x="326125" y="800250"/>
            <a:ext cx="6491700" cy="41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vidas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600">
              <a:solidFill>
                <a:srgbClr val="F9267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vidas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600">
                <a:solidFill>
                  <a:srgbClr val="88846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#condição de existência/limite do loop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600">
                <a:solidFill>
                  <a:srgbClr val="A6E22E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i="1" lang="pt-BR" sz="1600">
                <a:solidFill>
                  <a:srgbClr val="66D9E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pt-BR" sz="1600">
                <a:solidFill>
                  <a:srgbClr val="E6DB74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"Você tem </a:t>
            </a:r>
            <a:r>
              <a:rPr lang="pt-BR" sz="16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vidas</a:t>
            </a:r>
            <a:r>
              <a:rPr lang="pt-BR" sz="16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pt-BR" sz="1600">
                <a:solidFill>
                  <a:srgbClr val="E6DB74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vida(s)."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resposta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A6E22E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600">
                <a:solidFill>
                  <a:srgbClr val="E6DB74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"Você morreu? (s/n):"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resposta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E6DB74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600">
                <a:solidFill>
                  <a:srgbClr val="88846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#checa se perdeu vida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    vidas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-=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AE81F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1 </a:t>
            </a:r>
            <a:r>
              <a:rPr lang="pt-BR" sz="1600">
                <a:solidFill>
                  <a:srgbClr val="88846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#diminui a quantidade de vidas </a:t>
            </a:r>
            <a:endParaRPr sz="1600">
              <a:solidFill>
                <a:srgbClr val="88846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88846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               #para que o loop tenha fim</a:t>
            </a:r>
            <a:endParaRPr sz="1600">
              <a:solidFill>
                <a:srgbClr val="88846F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600">
                <a:solidFill>
                  <a:srgbClr val="A6E22E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600">
                <a:solidFill>
                  <a:srgbClr val="E6DB74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"Tente de novo!"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600">
                <a:solidFill>
                  <a:srgbClr val="F9267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600">
                <a:solidFill>
                  <a:srgbClr val="A6E22E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600">
                <a:solidFill>
                  <a:srgbClr val="E6DB74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"Continue jogando!"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A6E22E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600">
                <a:solidFill>
                  <a:srgbClr val="E6DB74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"Game over!"</a:t>
            </a:r>
            <a:r>
              <a:rPr lang="pt-BR" sz="1600">
                <a:solidFill>
                  <a:srgbClr val="F8F8F2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88846F"/>
                </a:solidFill>
                <a:highlight>
                  <a:srgbClr val="272822"/>
                </a:highlight>
                <a:latin typeface="Consolas"/>
                <a:ea typeface="Consolas"/>
                <a:cs typeface="Consolas"/>
                <a:sym typeface="Consolas"/>
              </a:rPr>
              <a:t>#somente executa quando perder todas as vidas</a:t>
            </a:r>
            <a:endParaRPr sz="1600">
              <a:solidFill>
                <a:srgbClr val="F8F8F2"/>
              </a:solidFill>
              <a:highlight>
                <a:srgbClr val="2728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1" name="Google Shape;121;p19" title="10004182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550" y="973975"/>
            <a:ext cx="3337402" cy="333740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251950" y="248875"/>
            <a:ext cx="32172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Exemplos de Código </a:t>
            </a:r>
            <a:endParaRPr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