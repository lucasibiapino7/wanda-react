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oppins"/>
      <p:regular r:id="rId16"/>
      <p:bold r:id="rId17"/>
      <p:italic r:id="rId18"/>
      <p:boldItalic r:id="rId19"/>
    </p:embeddedFont>
    <p:embeddedFont>
      <p:font typeface="Poppins Medium"/>
      <p:regular r:id="rId20"/>
      <p:bold r:id="rId21"/>
      <p:italic r:id="rId22"/>
      <p:boldItalic r:id="rId23"/>
    </p:embeddedFont>
    <p:embeddedFont>
      <p:font typeface="Poppins SemiBold"/>
      <p:regular r:id="rId24"/>
      <p:bold r:id="rId25"/>
      <p:italic r:id="rId26"/>
      <p:boldItalic r:id="rId27"/>
    </p:embeddedFont>
    <p:embeddedFont>
      <p:font typeface="Roboto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Medium-regular.fntdata"/><Relationship Id="rId22" Type="http://schemas.openxmlformats.org/officeDocument/2006/relationships/font" Target="fonts/PoppinsMedium-italic.fntdata"/><Relationship Id="rId21" Type="http://schemas.openxmlformats.org/officeDocument/2006/relationships/font" Target="fonts/PoppinsMedium-bold.fntdata"/><Relationship Id="rId24" Type="http://schemas.openxmlformats.org/officeDocument/2006/relationships/font" Target="fonts/PoppinsSemiBold-regular.fntdata"/><Relationship Id="rId23" Type="http://schemas.openxmlformats.org/officeDocument/2006/relationships/font" Target="fonts/Poppins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SemiBold-italic.fntdata"/><Relationship Id="rId25" Type="http://schemas.openxmlformats.org/officeDocument/2006/relationships/font" Target="fonts/PoppinsSemiBold-bold.fntdata"/><Relationship Id="rId28" Type="http://schemas.openxmlformats.org/officeDocument/2006/relationships/font" Target="fonts/RobotoMono-regular.fntdata"/><Relationship Id="rId27" Type="http://schemas.openxmlformats.org/officeDocument/2006/relationships/font" Target="fonts/Poppins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bold.fntdata"/><Relationship Id="rId16" Type="http://schemas.openxmlformats.org/officeDocument/2006/relationships/font" Target="fonts/Poppins-regular.fntdata"/><Relationship Id="rId19" Type="http://schemas.openxmlformats.org/officeDocument/2006/relationships/font" Target="fonts/Poppins-boldItalic.fntdata"/><Relationship Id="rId18" Type="http://schemas.openxmlformats.org/officeDocument/2006/relationships/font" Target="fonts/Poppins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4678bde9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4678bde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Lembre aos alunos da analogia da gaveta usada na aula de Variáveis — cada variável era uma gaveta guardando um único valor. Agora, uma lista é como uma cômoda inteira: várias gavetas organizadas, cada uma com seu próprio índice. Essa conexão ajuda a mostrar que listas não são um conceito novo do zero, mas uma evolução natural do que eles já conhecem. 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af307758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af307758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Ressalte que os itens podem ser de qualquer tipo — números, textos, etc. Mas para esta aula, mantenha exemplos simples com strings para não sobrecarregar. 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af307758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af307758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Esse é o ponto onde mais alunos travam. Vale perguntar para a turma: "Se eu quero o primeiro item, qual índice uso?" e esperar as respostas antes de revelar. A surpresa do 0 fica mais marcada assim. 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af3077581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af307758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Escreva no quadro: append = adicionar. Reforce que mesmo sem saber inglês, eles podem aprender o que cada comando faz em Python. Use a analogia da cômoda — "É como abrir uma gaveta nova no final e guardar algo nela.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bae01d701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bae01d70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Escreva no quadro: append = adicionar. Reforce que mesmo sem saber inglês, eles podem aprender o que cada comando faz em Python. Use a analogia da cômoda — "É como abrir uma gaveta nova no final e guardar algo nela.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af3077581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af3077581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Escreva no quadro: len = length = tamanho. Conecte com os índices — "Se len() retorna 3, quais são os índices válidos?" A resposta é 0, 1 e 2 — nunca 3. Isso prepara o aluno para evitar o erro clássico de acessar um índice que não existe. 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5ea17680c_4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5ea17680c_4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Explique brevemente que mediana é o valor central de uma lista ordenada. Pergunte: "Se a lista tem 5 notas, qual posição é o centro?" Aproveite para explicar que // é divisão inteira — 5 dividido por 2 dá 2, exatamente o índice do meio. </a:t>
            </a:r>
            <a:endParaRPr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bae01d701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bae01d70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Escreva no quadro: len = length = tamanho. Conecte com os índices — "Se len() retorna 3, quais são os índices válidos?" A resposta é 0, 1 e 2 — nunca 3. Isso prepara o aluno para evitar o erro clássico de acessar um índice que não existe. 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5ea17680c_4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d5ea17680c_4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7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100">
                <a:solidFill>
                  <a:srgbClr val="F3F3F3"/>
                </a:solidFill>
              </a:rPr>
              <a:t>Lista</a:t>
            </a:r>
            <a:endParaRPr b="1" sz="5100">
              <a:solidFill>
                <a:srgbClr val="F3F3F3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00FFFF"/>
                </a:solidFill>
              </a:rPr>
              <a:t>Projeto Wanda</a:t>
            </a:r>
            <a:endParaRPr sz="2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311700" y="445025"/>
            <a:ext cx="542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2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Listas</a:t>
            </a:r>
            <a:endParaRPr sz="232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311700" y="1492075"/>
            <a:ext cx="8478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Listas armazenam vários valores em uma única variável.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11700" y="956375"/>
            <a:ext cx="1966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 que são?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63" name="Google Shape;63;p14" title="armario_para_lado_esquerdo_slide.png"/>
          <p:cNvPicPr preferRelativeResize="0"/>
          <p:nvPr/>
        </p:nvPicPr>
        <p:blipFill rotWithShape="1">
          <a:blip r:embed="rId3">
            <a:alphaModFix/>
          </a:blip>
          <a:srcRect b="0" l="0" r="22589" t="0"/>
          <a:stretch/>
        </p:blipFill>
        <p:spPr>
          <a:xfrm>
            <a:off x="1891538" y="2027775"/>
            <a:ext cx="2217050" cy="286392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4243475" y="2757513"/>
            <a:ext cx="3547500" cy="11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Cada gaveta tem uma posição chamada índice, que começa em 0! 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/>
        </p:nvSpPr>
        <p:spPr>
          <a:xfrm>
            <a:off x="311700" y="445025"/>
            <a:ext cx="542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2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Listas</a:t>
            </a:r>
            <a:endParaRPr sz="232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311700" y="1492075"/>
            <a:ext cx="8478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Para criar uma lista, usamos colchetes [ ] e separamos os itens por vírgula. 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311700" y="956375"/>
            <a:ext cx="8478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Criando uma Lista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504600" y="2613775"/>
            <a:ext cx="5034600" cy="12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7F1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frutas </a:t>
            </a:r>
            <a:r>
              <a:rPr lang="pt-BR" sz="1800">
                <a:solidFill>
                  <a:srgbClr val="FC618D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pt-BR" sz="1800">
                <a:solidFill>
                  <a:srgbClr val="F7F1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["</a:t>
            </a:r>
            <a:r>
              <a:rPr lang="pt-BR" sz="1800">
                <a:solidFill>
                  <a:srgbClr val="FCE566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maçã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",</a:t>
            </a:r>
            <a:r>
              <a:rPr lang="pt-BR" sz="1800">
                <a:solidFill>
                  <a:srgbClr val="F7F1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pt-BR" sz="1800">
                <a:solidFill>
                  <a:srgbClr val="FCE566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banana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",</a:t>
            </a:r>
            <a:r>
              <a:rPr lang="pt-BR" sz="1800">
                <a:solidFill>
                  <a:srgbClr val="F7F1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pt-BR" sz="1800">
                <a:solidFill>
                  <a:srgbClr val="FCE566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uva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"]</a:t>
            </a:r>
            <a:endParaRPr sz="1800">
              <a:solidFill>
                <a:srgbClr val="8B888F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7BD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7F1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frutas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8B888F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800">
                <a:solidFill>
                  <a:srgbClr val="69676C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#Resultado: ['maçã', 'banana', 'uva']</a:t>
            </a:r>
            <a:endParaRPr i="1" sz="1800">
              <a:solidFill>
                <a:srgbClr val="69676C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73" name="Google Shape;73;p15" title="frutas_python_style.png"/>
          <p:cNvPicPr preferRelativeResize="0"/>
          <p:nvPr/>
        </p:nvPicPr>
        <p:blipFill rotWithShape="1">
          <a:blip r:embed="rId3">
            <a:alphaModFix/>
          </a:blip>
          <a:srcRect b="10816" l="9071" r="8759" t="9069"/>
          <a:stretch/>
        </p:blipFill>
        <p:spPr>
          <a:xfrm>
            <a:off x="5799050" y="2073475"/>
            <a:ext cx="2353226" cy="2294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/>
        </p:nvSpPr>
        <p:spPr>
          <a:xfrm>
            <a:off x="311700" y="445025"/>
            <a:ext cx="542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2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OBSERVAÇÃO </a:t>
            </a:r>
            <a:endParaRPr sz="232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311700" y="1492075"/>
            <a:ext cx="8478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 Python, cada item da lista tem uma posição chamada índice. O primeiro item sempre fica no índice 0, não no 1! </a:t>
            </a:r>
            <a:endParaRPr sz="19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311700" y="956375"/>
            <a:ext cx="8478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Índices 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2336541" y="2340900"/>
            <a:ext cx="447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7F1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frutas </a:t>
            </a:r>
            <a:r>
              <a:rPr lang="pt-BR" sz="1800">
                <a:solidFill>
                  <a:srgbClr val="FC618D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pt-BR" sz="1800">
                <a:solidFill>
                  <a:srgbClr val="F7F1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["</a:t>
            </a:r>
            <a:r>
              <a:rPr lang="pt-BR" sz="1800">
                <a:solidFill>
                  <a:srgbClr val="FCE566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maçã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",</a:t>
            </a:r>
            <a:r>
              <a:rPr lang="pt-BR" sz="1800">
                <a:solidFill>
                  <a:srgbClr val="F7F1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pt-BR" sz="1800">
                <a:solidFill>
                  <a:srgbClr val="FCE566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banana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",</a:t>
            </a:r>
            <a:r>
              <a:rPr lang="pt-BR" sz="1800">
                <a:solidFill>
                  <a:srgbClr val="F7F1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pt-BR" sz="1800">
                <a:solidFill>
                  <a:srgbClr val="FCE566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uva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"]</a:t>
            </a:r>
            <a:endParaRPr i="1" sz="1800">
              <a:solidFill>
                <a:srgbClr val="69676C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82" name="Google Shape;82;p16"/>
          <p:cNvGrpSpPr/>
          <p:nvPr/>
        </p:nvGrpSpPr>
        <p:grpSpPr>
          <a:xfrm>
            <a:off x="332550" y="2821075"/>
            <a:ext cx="4239300" cy="1769875"/>
            <a:chOff x="332550" y="2821075"/>
            <a:chExt cx="4239300" cy="1769875"/>
          </a:xfrm>
        </p:grpSpPr>
        <p:sp>
          <p:nvSpPr>
            <p:cNvPr id="83" name="Google Shape;83;p16"/>
            <p:cNvSpPr txBox="1"/>
            <p:nvPr/>
          </p:nvSpPr>
          <p:spPr>
            <a:xfrm>
              <a:off x="332550" y="2821075"/>
              <a:ext cx="4239300" cy="4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pt-BR" sz="19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❌ Errado! </a:t>
              </a:r>
              <a:endParaRPr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4" name="Google Shape;84;p16"/>
            <p:cNvSpPr txBox="1"/>
            <p:nvPr/>
          </p:nvSpPr>
          <p:spPr>
            <a:xfrm>
              <a:off x="1213350" y="3377150"/>
              <a:ext cx="2477700" cy="12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rgbClr val="F7F1FF"/>
                  </a:solidFill>
                  <a:highlight>
                    <a:srgbClr val="222222"/>
                  </a:highlight>
                  <a:latin typeface="Consolas"/>
                  <a:ea typeface="Consolas"/>
                  <a:cs typeface="Consolas"/>
                  <a:sym typeface="Consolas"/>
                </a:rPr>
                <a:t>frutas</a:t>
              </a:r>
              <a:r>
                <a:rPr lang="pt-BR" sz="1800">
                  <a:solidFill>
                    <a:srgbClr val="8B888F"/>
                  </a:solidFill>
                  <a:highlight>
                    <a:srgbClr val="222222"/>
                  </a:highlight>
                  <a:latin typeface="Consolas"/>
                  <a:ea typeface="Consolas"/>
                  <a:cs typeface="Consolas"/>
                  <a:sym typeface="Consolas"/>
                </a:rPr>
                <a:t>[</a:t>
              </a:r>
              <a:r>
                <a:rPr lang="pt-BR" sz="1800">
                  <a:solidFill>
                    <a:srgbClr val="948AE3"/>
                  </a:solidFill>
                  <a:highlight>
                    <a:srgbClr val="222222"/>
                  </a:highlight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r>
                <a:rPr lang="pt-BR" sz="1800">
                  <a:solidFill>
                    <a:srgbClr val="8B888F"/>
                  </a:solidFill>
                  <a:highlight>
                    <a:srgbClr val="222222"/>
                  </a:highlight>
                  <a:latin typeface="Consolas"/>
                  <a:ea typeface="Consolas"/>
                  <a:cs typeface="Consolas"/>
                  <a:sym typeface="Consolas"/>
                </a:rPr>
                <a:t>]</a:t>
              </a:r>
              <a:endParaRPr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pt-BR" sz="1800">
                  <a:solidFill>
                    <a:srgbClr val="69676C"/>
                  </a:solidFill>
                  <a:highlight>
                    <a:srgbClr val="222222"/>
                  </a:highlight>
                  <a:latin typeface="Consolas"/>
                  <a:ea typeface="Consolas"/>
                  <a:cs typeface="Consolas"/>
                  <a:sym typeface="Consolas"/>
                </a:rPr>
                <a:t>#Resultado: banana</a:t>
              </a:r>
              <a:endParaRPr i="1" sz="1800">
                <a:solidFill>
                  <a:srgbClr val="69676C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85" name="Google Shape;85;p16"/>
          <p:cNvGrpSpPr/>
          <p:nvPr/>
        </p:nvGrpSpPr>
        <p:grpSpPr>
          <a:xfrm>
            <a:off x="4571850" y="2821075"/>
            <a:ext cx="4239300" cy="1769875"/>
            <a:chOff x="4571850" y="2821075"/>
            <a:chExt cx="4239300" cy="1769875"/>
          </a:xfrm>
        </p:grpSpPr>
        <p:sp>
          <p:nvSpPr>
            <p:cNvPr id="86" name="Google Shape;86;p16"/>
            <p:cNvSpPr txBox="1"/>
            <p:nvPr/>
          </p:nvSpPr>
          <p:spPr>
            <a:xfrm>
              <a:off x="4571850" y="2821075"/>
              <a:ext cx="4239300" cy="4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pt-BR" sz="19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✅ Certo!</a:t>
              </a:r>
              <a:endParaRPr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7" name="Google Shape;87;p16"/>
            <p:cNvSpPr txBox="1"/>
            <p:nvPr/>
          </p:nvSpPr>
          <p:spPr>
            <a:xfrm>
              <a:off x="5563350" y="3377150"/>
              <a:ext cx="2256300" cy="121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rgbClr val="F7F1FF"/>
                  </a:solidFill>
                  <a:highlight>
                    <a:srgbClr val="222222"/>
                  </a:highlight>
                  <a:latin typeface="Consolas"/>
                  <a:ea typeface="Consolas"/>
                  <a:cs typeface="Consolas"/>
                  <a:sym typeface="Consolas"/>
                </a:rPr>
                <a:t>frutas</a:t>
              </a:r>
              <a:r>
                <a:rPr lang="pt-BR" sz="1800">
                  <a:solidFill>
                    <a:srgbClr val="8B888F"/>
                  </a:solidFill>
                  <a:highlight>
                    <a:srgbClr val="222222"/>
                  </a:highlight>
                  <a:latin typeface="Consolas"/>
                  <a:ea typeface="Consolas"/>
                  <a:cs typeface="Consolas"/>
                  <a:sym typeface="Consolas"/>
                </a:rPr>
                <a:t>[</a:t>
              </a:r>
              <a:r>
                <a:rPr lang="pt-BR" sz="1800">
                  <a:solidFill>
                    <a:srgbClr val="948AE3"/>
                  </a:solidFill>
                  <a:highlight>
                    <a:srgbClr val="222222"/>
                  </a:highlight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r>
                <a:rPr lang="pt-BR" sz="1800">
                  <a:solidFill>
                    <a:srgbClr val="8B888F"/>
                  </a:solidFill>
                  <a:highlight>
                    <a:srgbClr val="222222"/>
                  </a:highlight>
                  <a:latin typeface="Consolas"/>
                  <a:ea typeface="Consolas"/>
                  <a:cs typeface="Consolas"/>
                  <a:sym typeface="Consolas"/>
                </a:rPr>
                <a:t>]</a:t>
              </a:r>
              <a:endParaRPr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i="1" lang="pt-BR" sz="1800">
                  <a:solidFill>
                    <a:srgbClr val="69676C"/>
                  </a:solidFill>
                  <a:highlight>
                    <a:srgbClr val="222222"/>
                  </a:highlight>
                  <a:latin typeface="Consolas"/>
                  <a:ea typeface="Consolas"/>
                  <a:cs typeface="Consolas"/>
                  <a:sym typeface="Consolas"/>
                </a:rPr>
                <a:t>#Resultado: maçã</a:t>
              </a:r>
              <a:endParaRPr i="1" sz="1800">
                <a:solidFill>
                  <a:srgbClr val="69676C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88" name="Google Shape;88;p16"/>
          <p:cNvGrpSpPr/>
          <p:nvPr/>
        </p:nvGrpSpPr>
        <p:grpSpPr>
          <a:xfrm>
            <a:off x="2336541" y="4150075"/>
            <a:ext cx="4470900" cy="790525"/>
            <a:chOff x="2336541" y="4150075"/>
            <a:chExt cx="4470900" cy="790525"/>
          </a:xfrm>
        </p:grpSpPr>
        <p:sp>
          <p:nvSpPr>
            <p:cNvPr id="89" name="Google Shape;89;p16"/>
            <p:cNvSpPr txBox="1"/>
            <p:nvPr/>
          </p:nvSpPr>
          <p:spPr>
            <a:xfrm>
              <a:off x="2336541" y="4478900"/>
              <a:ext cx="4470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rgbClr val="F7F1FF"/>
                  </a:solidFill>
                  <a:highlight>
                    <a:srgbClr val="222222"/>
                  </a:highlight>
                  <a:latin typeface="Consolas"/>
                  <a:ea typeface="Consolas"/>
                  <a:cs typeface="Consolas"/>
                  <a:sym typeface="Consolas"/>
                </a:rPr>
                <a:t>frutas </a:t>
              </a:r>
              <a:r>
                <a:rPr lang="pt-BR" sz="1800">
                  <a:solidFill>
                    <a:srgbClr val="FC618D"/>
                  </a:solidFill>
                  <a:highlight>
                    <a:srgbClr val="222222"/>
                  </a:highlight>
                  <a:latin typeface="Consolas"/>
                  <a:ea typeface="Consolas"/>
                  <a:cs typeface="Consolas"/>
                  <a:sym typeface="Consolas"/>
                </a:rPr>
                <a:t>=</a:t>
              </a:r>
              <a:r>
                <a:rPr lang="pt-BR" sz="1800">
                  <a:solidFill>
                    <a:srgbClr val="F7F1FF"/>
                  </a:solidFill>
                  <a:highlight>
                    <a:srgbClr val="222222"/>
                  </a:highlight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pt-BR" sz="1800">
                  <a:solidFill>
                    <a:srgbClr val="8B888F"/>
                  </a:solidFill>
                  <a:highlight>
                    <a:srgbClr val="222222"/>
                  </a:highlight>
                  <a:latin typeface="Consolas"/>
                  <a:ea typeface="Consolas"/>
                  <a:cs typeface="Consolas"/>
                  <a:sym typeface="Consolas"/>
                </a:rPr>
                <a:t>["</a:t>
              </a:r>
              <a:r>
                <a:rPr lang="pt-BR" sz="1800">
                  <a:solidFill>
                    <a:srgbClr val="FCE566"/>
                  </a:solidFill>
                  <a:highlight>
                    <a:srgbClr val="222222"/>
                  </a:highlight>
                  <a:latin typeface="Consolas"/>
                  <a:ea typeface="Consolas"/>
                  <a:cs typeface="Consolas"/>
                  <a:sym typeface="Consolas"/>
                </a:rPr>
                <a:t>maçã</a:t>
              </a:r>
              <a:r>
                <a:rPr lang="pt-BR" sz="1800">
                  <a:solidFill>
                    <a:srgbClr val="8B888F"/>
                  </a:solidFill>
                  <a:highlight>
                    <a:srgbClr val="222222"/>
                  </a:highlight>
                  <a:latin typeface="Consolas"/>
                  <a:ea typeface="Consolas"/>
                  <a:cs typeface="Consolas"/>
                  <a:sym typeface="Consolas"/>
                </a:rPr>
                <a:t>",</a:t>
              </a:r>
              <a:r>
                <a:rPr lang="pt-BR" sz="1800">
                  <a:solidFill>
                    <a:srgbClr val="F7F1FF"/>
                  </a:solidFill>
                  <a:highlight>
                    <a:srgbClr val="222222"/>
                  </a:highlight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pt-BR" sz="1800">
                  <a:solidFill>
                    <a:srgbClr val="8B888F"/>
                  </a:solidFill>
                  <a:highlight>
                    <a:srgbClr val="222222"/>
                  </a:highlight>
                  <a:latin typeface="Consolas"/>
                  <a:ea typeface="Consolas"/>
                  <a:cs typeface="Consolas"/>
                  <a:sym typeface="Consolas"/>
                </a:rPr>
                <a:t>"</a:t>
              </a:r>
              <a:r>
                <a:rPr lang="pt-BR" sz="1800">
                  <a:solidFill>
                    <a:srgbClr val="FCE566"/>
                  </a:solidFill>
                  <a:highlight>
                    <a:srgbClr val="222222"/>
                  </a:highlight>
                  <a:latin typeface="Consolas"/>
                  <a:ea typeface="Consolas"/>
                  <a:cs typeface="Consolas"/>
                  <a:sym typeface="Consolas"/>
                </a:rPr>
                <a:t>banana</a:t>
              </a:r>
              <a:r>
                <a:rPr lang="pt-BR" sz="1800">
                  <a:solidFill>
                    <a:srgbClr val="8B888F"/>
                  </a:solidFill>
                  <a:highlight>
                    <a:srgbClr val="222222"/>
                  </a:highlight>
                  <a:latin typeface="Consolas"/>
                  <a:ea typeface="Consolas"/>
                  <a:cs typeface="Consolas"/>
                  <a:sym typeface="Consolas"/>
                </a:rPr>
                <a:t>",</a:t>
              </a:r>
              <a:r>
                <a:rPr lang="pt-BR" sz="1800">
                  <a:solidFill>
                    <a:srgbClr val="F7F1FF"/>
                  </a:solidFill>
                  <a:highlight>
                    <a:srgbClr val="222222"/>
                  </a:highlight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pt-BR" sz="1800">
                  <a:solidFill>
                    <a:srgbClr val="8B888F"/>
                  </a:solidFill>
                  <a:highlight>
                    <a:srgbClr val="222222"/>
                  </a:highlight>
                  <a:latin typeface="Consolas"/>
                  <a:ea typeface="Consolas"/>
                  <a:cs typeface="Consolas"/>
                  <a:sym typeface="Consolas"/>
                </a:rPr>
                <a:t>"</a:t>
              </a:r>
              <a:r>
                <a:rPr lang="pt-BR" sz="1800">
                  <a:solidFill>
                    <a:srgbClr val="FCE566"/>
                  </a:solidFill>
                  <a:highlight>
                    <a:srgbClr val="222222"/>
                  </a:highlight>
                  <a:latin typeface="Consolas"/>
                  <a:ea typeface="Consolas"/>
                  <a:cs typeface="Consolas"/>
                  <a:sym typeface="Consolas"/>
                </a:rPr>
                <a:t>uva</a:t>
              </a:r>
              <a:r>
                <a:rPr lang="pt-BR" sz="1800">
                  <a:solidFill>
                    <a:srgbClr val="8B888F"/>
                  </a:solidFill>
                  <a:highlight>
                    <a:srgbClr val="222222"/>
                  </a:highlight>
                  <a:latin typeface="Consolas"/>
                  <a:ea typeface="Consolas"/>
                  <a:cs typeface="Consolas"/>
                  <a:sym typeface="Consolas"/>
                </a:rPr>
                <a:t>"]</a:t>
              </a:r>
              <a:endParaRPr i="1" sz="1800">
                <a:solidFill>
                  <a:srgbClr val="69676C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0" name="Google Shape;90;p16"/>
            <p:cNvSpPr txBox="1"/>
            <p:nvPr/>
          </p:nvSpPr>
          <p:spPr>
            <a:xfrm>
              <a:off x="2336541" y="4150075"/>
              <a:ext cx="4470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                       </a:t>
              </a:r>
              <a:r>
                <a:rPr lang="pt-BR" sz="18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  </a:t>
              </a:r>
              <a:r>
                <a:rPr lang="pt-BR" sz="18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pt-BR" sz="1800">
                  <a:solidFill>
                    <a:srgbClr val="00FFFF"/>
                  </a:solidFill>
                  <a:latin typeface="Poppins"/>
                  <a:ea typeface="Poppins"/>
                  <a:cs typeface="Poppins"/>
                  <a:sym typeface="Poppins"/>
                </a:rPr>
                <a:t>0                1                2</a:t>
              </a:r>
              <a:endParaRPr sz="18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/>
        </p:nvSpPr>
        <p:spPr>
          <a:xfrm>
            <a:off x="311700" y="445025"/>
            <a:ext cx="542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2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Listas</a:t>
            </a:r>
            <a:endParaRPr sz="232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311700" y="1492075"/>
            <a:ext cx="8563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 comando</a:t>
            </a:r>
            <a:r>
              <a:rPr lang="pt-BR" sz="1100">
                <a:solidFill>
                  <a:schemeClr val="dk1"/>
                </a:solidFill>
              </a:rPr>
              <a:t> </a:t>
            </a:r>
            <a:r>
              <a:rPr lang="pt-BR" sz="1800">
                <a:solidFill>
                  <a:srgbClr val="7BD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append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pt-BR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coloca um novo item no final da lista.</a:t>
            </a:r>
            <a:endParaRPr sz="1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311700" y="956375"/>
            <a:ext cx="8478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Adicionando elementos 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311700" y="2443425"/>
            <a:ext cx="46974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7F1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alunos </a:t>
            </a:r>
            <a:r>
              <a:rPr lang="pt-BR" sz="1800">
                <a:solidFill>
                  <a:srgbClr val="FC618D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pt-BR" sz="1800">
                <a:solidFill>
                  <a:srgbClr val="F7F1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["</a:t>
            </a:r>
            <a:r>
              <a:rPr lang="pt-BR" sz="1800">
                <a:solidFill>
                  <a:srgbClr val="FCE566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Maria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",</a:t>
            </a:r>
            <a:r>
              <a:rPr lang="pt-BR" sz="1800">
                <a:solidFill>
                  <a:srgbClr val="F7F1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pt-BR" sz="1800">
                <a:solidFill>
                  <a:srgbClr val="FCE566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Pedro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",</a:t>
            </a:r>
            <a:r>
              <a:rPr lang="pt-BR" sz="1800">
                <a:solidFill>
                  <a:srgbClr val="F7F1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pt-BR" sz="1800">
                <a:solidFill>
                  <a:srgbClr val="FCE566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Ana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"]</a:t>
            </a:r>
            <a:endParaRPr sz="1800">
              <a:solidFill>
                <a:srgbClr val="8B888F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7F1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alunos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pt-BR" sz="1800">
                <a:solidFill>
                  <a:srgbClr val="7BD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append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("</a:t>
            </a:r>
            <a:r>
              <a:rPr lang="pt-BR" sz="1800">
                <a:solidFill>
                  <a:srgbClr val="FCE566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João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")</a:t>
            </a:r>
            <a:endParaRPr sz="1800">
              <a:solidFill>
                <a:srgbClr val="8B888F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7BD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7F1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alunos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8B888F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800">
                <a:solidFill>
                  <a:srgbClr val="69676C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#Resultado: ['Maria', 'Pedro', 'Ana', 'João']</a:t>
            </a:r>
            <a:endParaRPr i="1" sz="1800">
              <a:solidFill>
                <a:srgbClr val="69676C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99" name="Google Shape;99;p17" title="criancas_append_sty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6475" y="1913625"/>
            <a:ext cx="3634125" cy="2725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/>
        </p:nvSpPr>
        <p:spPr>
          <a:xfrm>
            <a:off x="311700" y="445025"/>
            <a:ext cx="542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2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Listas</a:t>
            </a:r>
            <a:endParaRPr sz="232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5" name="Google Shape;105;p18"/>
          <p:cNvSpPr txBox="1"/>
          <p:nvPr/>
        </p:nvSpPr>
        <p:spPr>
          <a:xfrm>
            <a:off x="311700" y="1492075"/>
            <a:ext cx="8563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Para alterar um item, basta usar o índice e atribuir um novo valor. </a:t>
            </a:r>
            <a:endParaRPr sz="1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311700" y="956375"/>
            <a:ext cx="8478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Modificando elementos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311700" y="2443425"/>
            <a:ext cx="4844700" cy="15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CFCFA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frutas </a:t>
            </a:r>
            <a:r>
              <a:rPr lang="pt-BR" sz="1800">
                <a:solidFill>
                  <a:srgbClr val="FF6188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pt-BR" sz="1800">
                <a:solidFill>
                  <a:srgbClr val="FCFCFA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939293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["</a:t>
            </a:r>
            <a:r>
              <a:rPr lang="pt-BR" sz="1800">
                <a:solidFill>
                  <a:srgbClr val="FFD866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maçã</a:t>
            </a:r>
            <a:r>
              <a:rPr lang="pt-BR" sz="1800">
                <a:solidFill>
                  <a:srgbClr val="939293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",</a:t>
            </a:r>
            <a:r>
              <a:rPr lang="pt-BR" sz="1800">
                <a:solidFill>
                  <a:srgbClr val="FCFCFA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939293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pt-BR" sz="1800">
                <a:solidFill>
                  <a:srgbClr val="FFD866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banana</a:t>
            </a:r>
            <a:r>
              <a:rPr lang="pt-BR" sz="1800">
                <a:solidFill>
                  <a:srgbClr val="939293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",</a:t>
            </a:r>
            <a:r>
              <a:rPr lang="pt-BR" sz="1800">
                <a:solidFill>
                  <a:srgbClr val="FCFCFA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939293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pt-BR" sz="1800">
                <a:solidFill>
                  <a:srgbClr val="FFD866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uva</a:t>
            </a:r>
            <a:r>
              <a:rPr lang="pt-BR" sz="1800">
                <a:solidFill>
                  <a:srgbClr val="939293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"]</a:t>
            </a:r>
            <a:endParaRPr sz="1800">
              <a:solidFill>
                <a:srgbClr val="939293"/>
              </a:solidFill>
              <a:highlight>
                <a:srgbClr val="2D2A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CFCFA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frutas</a:t>
            </a:r>
            <a:r>
              <a:rPr lang="pt-BR" sz="1800">
                <a:solidFill>
                  <a:srgbClr val="939293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pt-BR" sz="1800">
                <a:solidFill>
                  <a:srgbClr val="AB9DF2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pt-BR" sz="1800">
                <a:solidFill>
                  <a:srgbClr val="939293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pt-BR" sz="1800">
                <a:solidFill>
                  <a:srgbClr val="FCFCFA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FF6188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pt-BR" sz="1800">
                <a:solidFill>
                  <a:srgbClr val="FCFCFA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939293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pt-BR" sz="1800">
                <a:solidFill>
                  <a:srgbClr val="FFD866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manga</a:t>
            </a:r>
            <a:r>
              <a:rPr lang="pt-BR" sz="1800">
                <a:solidFill>
                  <a:srgbClr val="939293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endParaRPr sz="1800">
              <a:solidFill>
                <a:srgbClr val="939293"/>
              </a:solidFill>
              <a:highlight>
                <a:srgbClr val="2D2A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A9DC76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939293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CFCFA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frutas</a:t>
            </a:r>
            <a:r>
              <a:rPr lang="pt-BR" sz="1800">
                <a:solidFill>
                  <a:srgbClr val="939293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939293"/>
              </a:solidFill>
              <a:highlight>
                <a:srgbClr val="2D2A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800">
                <a:solidFill>
                  <a:srgbClr val="727072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#Resultado: ['maçã', 'manga', 'uva']</a:t>
            </a:r>
            <a:endParaRPr sz="1800">
              <a:solidFill>
                <a:srgbClr val="F7F1FF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08" name="Google Shape;108;p18" title="banana_fruits_perfeito.png"/>
          <p:cNvPicPr preferRelativeResize="0"/>
          <p:nvPr/>
        </p:nvPicPr>
        <p:blipFill rotWithShape="1">
          <a:blip r:embed="rId3">
            <a:alphaModFix/>
          </a:blip>
          <a:srcRect b="219" l="0" r="0" t="219"/>
          <a:stretch/>
        </p:blipFill>
        <p:spPr>
          <a:xfrm>
            <a:off x="5156475" y="1913625"/>
            <a:ext cx="3634127" cy="272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/>
        </p:nvSpPr>
        <p:spPr>
          <a:xfrm>
            <a:off x="311700" y="445025"/>
            <a:ext cx="542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2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Listas</a:t>
            </a:r>
            <a:endParaRPr sz="232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311700" y="1492075"/>
            <a:ext cx="8563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 comando len() diz quantos itens existem na lista. </a:t>
            </a:r>
            <a:endParaRPr sz="1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311700" y="956375"/>
            <a:ext cx="8478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Tamanho da lista 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311700" y="2443425"/>
            <a:ext cx="4697400" cy="15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7F1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alunos </a:t>
            </a:r>
            <a:r>
              <a:rPr lang="pt-BR" sz="1800">
                <a:solidFill>
                  <a:srgbClr val="FC618D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pt-BR" sz="1800">
                <a:solidFill>
                  <a:srgbClr val="F7F1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["</a:t>
            </a:r>
            <a:r>
              <a:rPr lang="pt-BR" sz="1800">
                <a:solidFill>
                  <a:srgbClr val="FCE566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Maria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",</a:t>
            </a:r>
            <a:r>
              <a:rPr lang="pt-BR" sz="1800">
                <a:solidFill>
                  <a:srgbClr val="F7F1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pt-BR" sz="1800">
                <a:solidFill>
                  <a:srgbClr val="FCE566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Pedro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",</a:t>
            </a:r>
            <a:r>
              <a:rPr lang="pt-BR" sz="1800">
                <a:solidFill>
                  <a:srgbClr val="F7F1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pt-BR" sz="1800">
                <a:solidFill>
                  <a:srgbClr val="FCE566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Ana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"]</a:t>
            </a:r>
            <a:endParaRPr sz="1800">
              <a:solidFill>
                <a:srgbClr val="8B888F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7BD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7BD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7F1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alunos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))</a:t>
            </a:r>
            <a:endParaRPr sz="1800">
              <a:solidFill>
                <a:srgbClr val="8B888F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800">
                <a:solidFill>
                  <a:srgbClr val="69676C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#Resultado: 3</a:t>
            </a:r>
            <a:endParaRPr i="1" sz="1800">
              <a:solidFill>
                <a:srgbClr val="69676C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7F1FF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17" name="Google Shape;117;p19" title="len_perspectiva_nova.png"/>
          <p:cNvPicPr preferRelativeResize="0"/>
          <p:nvPr/>
        </p:nvPicPr>
        <p:blipFill rotWithShape="1">
          <a:blip r:embed="rId3">
            <a:alphaModFix/>
          </a:blip>
          <a:srcRect b="0" l="3113" r="3113" t="0"/>
          <a:stretch/>
        </p:blipFill>
        <p:spPr>
          <a:xfrm>
            <a:off x="4748250" y="1784350"/>
            <a:ext cx="4199874" cy="3359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/>
        </p:nvSpPr>
        <p:spPr>
          <a:xfrm>
            <a:off x="223488" y="433675"/>
            <a:ext cx="17157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Exemplo</a:t>
            </a:r>
            <a:r>
              <a:rPr b="1" lang="pt-BR" sz="22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b="1" lang="pt-BR" sz="22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2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3" name="Google Shape;123;p20"/>
          <p:cNvSpPr txBox="1"/>
          <p:nvPr/>
        </p:nvSpPr>
        <p:spPr>
          <a:xfrm>
            <a:off x="1867517" y="433691"/>
            <a:ext cx="70530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professora quer descobrir a última nota da lista. Como fazer? </a:t>
            </a:r>
            <a:endParaRPr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4" name="Google Shape;124;p20" title="mediana_sem_professora.png"/>
          <p:cNvPicPr preferRelativeResize="0"/>
          <p:nvPr/>
        </p:nvPicPr>
        <p:blipFill rotWithShape="1">
          <a:blip r:embed="rId3">
            <a:alphaModFix/>
          </a:blip>
          <a:srcRect b="0" l="13522" r="3110" t="0"/>
          <a:stretch/>
        </p:blipFill>
        <p:spPr>
          <a:xfrm>
            <a:off x="4842374" y="1158800"/>
            <a:ext cx="3864524" cy="3476699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0"/>
          <p:cNvSpPr txBox="1"/>
          <p:nvPr/>
        </p:nvSpPr>
        <p:spPr>
          <a:xfrm>
            <a:off x="282322" y="2748479"/>
            <a:ext cx="4661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Como as notas estão em ordem crescente, como encontramos a mediana? </a:t>
            </a:r>
            <a:endParaRPr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6" name="Google Shape;126;p20"/>
          <p:cNvSpPr txBox="1"/>
          <p:nvPr/>
        </p:nvSpPr>
        <p:spPr>
          <a:xfrm>
            <a:off x="951000" y="1158763"/>
            <a:ext cx="3206700" cy="15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7F1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notas </a:t>
            </a:r>
            <a:r>
              <a:rPr lang="pt-BR" sz="1800">
                <a:solidFill>
                  <a:srgbClr val="FC618D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pt-BR" sz="1800">
                <a:solidFill>
                  <a:srgbClr val="F7F1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pt-BR" sz="1800">
                <a:solidFill>
                  <a:srgbClr val="948AE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pt-BR" sz="1800">
                <a:solidFill>
                  <a:srgbClr val="F7F1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948AE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pt-BR" sz="1800">
                <a:solidFill>
                  <a:srgbClr val="F7F1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948AE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pt-BR" sz="1800">
                <a:solidFill>
                  <a:srgbClr val="F7F1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948AE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pt-BR" sz="1800">
                <a:solidFill>
                  <a:srgbClr val="F7F1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948AE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800">
              <a:solidFill>
                <a:srgbClr val="8B888F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7F1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ultimo </a:t>
            </a:r>
            <a:r>
              <a:rPr lang="pt-BR" sz="1800">
                <a:solidFill>
                  <a:srgbClr val="FC618D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pt-BR" sz="1800">
                <a:solidFill>
                  <a:srgbClr val="F7F1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7BD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7F1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notas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pt-BR" sz="1800">
                <a:solidFill>
                  <a:srgbClr val="F7F1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FC618D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pt-BR" sz="1800">
                <a:solidFill>
                  <a:srgbClr val="F7F1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948AE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solidFill>
                <a:srgbClr val="948AE3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7BD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7F1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notas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pt-BR" sz="1800">
                <a:solidFill>
                  <a:srgbClr val="F7F1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ultimo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800">
              <a:solidFill>
                <a:srgbClr val="8B888F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800">
                <a:solidFill>
                  <a:srgbClr val="69676C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#Resultado: 10</a:t>
            </a:r>
            <a:endParaRPr sz="1800">
              <a:solidFill>
                <a:srgbClr val="F7F1FF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1001425" y="3764275"/>
            <a:ext cx="3942600" cy="12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7F1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mediana </a:t>
            </a:r>
            <a:r>
              <a:rPr lang="pt-BR" sz="1800">
                <a:solidFill>
                  <a:srgbClr val="FC618D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pt-BR" sz="1800">
                <a:solidFill>
                  <a:srgbClr val="F7F1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7BD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len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7F1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notas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pt-BR" sz="1800">
                <a:solidFill>
                  <a:srgbClr val="F7F1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FC618D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//</a:t>
            </a:r>
            <a:r>
              <a:rPr lang="pt-BR" sz="1800">
                <a:solidFill>
                  <a:srgbClr val="F7F1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948AE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1800">
              <a:solidFill>
                <a:srgbClr val="948AE3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7BD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7F1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notas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pt-BR" sz="1800">
                <a:solidFill>
                  <a:srgbClr val="F7F1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mediana</a:t>
            </a:r>
            <a:r>
              <a:rPr lang="pt-BR" sz="1800">
                <a:solidFill>
                  <a:srgbClr val="8B888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800">
              <a:solidFill>
                <a:srgbClr val="8B888F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800">
                <a:solidFill>
                  <a:srgbClr val="69676C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#Resultado: 7</a:t>
            </a:r>
            <a:endParaRPr i="1" sz="1800">
              <a:solidFill>
                <a:srgbClr val="69676C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/>
        </p:nvSpPr>
        <p:spPr>
          <a:xfrm>
            <a:off x="311700" y="445025"/>
            <a:ext cx="542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2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Listas</a:t>
            </a:r>
            <a:endParaRPr sz="232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33" name="Google Shape;133;p21"/>
          <p:cNvSpPr txBox="1"/>
          <p:nvPr/>
        </p:nvSpPr>
        <p:spPr>
          <a:xfrm>
            <a:off x="311700" y="1492075"/>
            <a:ext cx="8715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Imagine que a professora quer saber quais alunos foram aprovados… </a:t>
            </a:r>
            <a:endParaRPr sz="1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4" name="Google Shape;134;p21"/>
          <p:cNvSpPr txBox="1"/>
          <p:nvPr/>
        </p:nvSpPr>
        <p:spPr>
          <a:xfrm>
            <a:off x="311700" y="956375"/>
            <a:ext cx="8478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For + If com listas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35" name="Google Shape;135;p21"/>
          <p:cNvSpPr txBox="1"/>
          <p:nvPr/>
        </p:nvSpPr>
        <p:spPr>
          <a:xfrm>
            <a:off x="311700" y="2022075"/>
            <a:ext cx="4994700" cy="23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CFCFA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notas </a:t>
            </a:r>
            <a:r>
              <a:rPr lang="pt-BR" sz="1800">
                <a:solidFill>
                  <a:srgbClr val="FF6188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pt-BR" sz="1800">
                <a:solidFill>
                  <a:srgbClr val="FCFCFA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939293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pt-BR" sz="1800">
                <a:solidFill>
                  <a:srgbClr val="AB9DF2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pt-BR" sz="1800">
                <a:solidFill>
                  <a:srgbClr val="939293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pt-BR" sz="1800">
                <a:solidFill>
                  <a:srgbClr val="FCFCFA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AB9DF2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lang="pt-BR" sz="1800">
                <a:solidFill>
                  <a:srgbClr val="939293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pt-BR" sz="1800">
                <a:solidFill>
                  <a:srgbClr val="FCFCFA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AB9DF2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pt-BR" sz="1800">
                <a:solidFill>
                  <a:srgbClr val="939293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pt-BR" sz="1800">
                <a:solidFill>
                  <a:srgbClr val="FCFCFA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AB9DF2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9</a:t>
            </a:r>
            <a:r>
              <a:rPr lang="pt-BR" sz="1800">
                <a:solidFill>
                  <a:srgbClr val="939293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pt-BR" sz="1800">
                <a:solidFill>
                  <a:srgbClr val="FCFCFA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AB9DF2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lang="pt-BR" sz="1800">
                <a:solidFill>
                  <a:srgbClr val="939293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pt-BR" sz="1800">
                <a:solidFill>
                  <a:srgbClr val="FCFCFA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AB9DF2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pt-BR" sz="1800">
                <a:solidFill>
                  <a:srgbClr val="939293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800">
              <a:solidFill>
                <a:srgbClr val="FCFCFA"/>
              </a:solidFill>
              <a:highlight>
                <a:srgbClr val="2D2A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F6188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pt-BR" sz="1800">
                <a:solidFill>
                  <a:srgbClr val="FCFCFA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 nota </a:t>
            </a:r>
            <a:r>
              <a:rPr lang="pt-BR" sz="1800">
                <a:solidFill>
                  <a:srgbClr val="FF6188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pt-BR" sz="1800">
                <a:solidFill>
                  <a:srgbClr val="FCFCFA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 notas</a:t>
            </a:r>
            <a:r>
              <a:rPr lang="pt-BR" sz="1800">
                <a:solidFill>
                  <a:srgbClr val="939293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800">
              <a:solidFill>
                <a:srgbClr val="939293"/>
              </a:solidFill>
              <a:highlight>
                <a:srgbClr val="2D2A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CFCFA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pt-BR" sz="1800">
                <a:solidFill>
                  <a:srgbClr val="FF6188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pt-BR" sz="1800">
                <a:solidFill>
                  <a:srgbClr val="FCFCFA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 nota </a:t>
            </a:r>
            <a:r>
              <a:rPr lang="pt-BR" sz="1800">
                <a:solidFill>
                  <a:srgbClr val="FF6188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&gt;=</a:t>
            </a:r>
            <a:r>
              <a:rPr lang="pt-BR" sz="1800">
                <a:solidFill>
                  <a:srgbClr val="FCFCFA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AB9DF2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lang="pt-BR" sz="1800">
                <a:solidFill>
                  <a:srgbClr val="939293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800">
              <a:solidFill>
                <a:srgbClr val="939293"/>
              </a:solidFill>
              <a:highlight>
                <a:srgbClr val="2D2A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CFCFA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pt-BR" sz="1800">
                <a:solidFill>
                  <a:srgbClr val="A9DC76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939293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CFCFA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nota</a:t>
            </a:r>
            <a:r>
              <a:rPr lang="pt-BR" sz="1800">
                <a:solidFill>
                  <a:srgbClr val="939293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pt-BR" sz="1800">
                <a:solidFill>
                  <a:srgbClr val="FCFCFA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939293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pt-BR" sz="1800">
                <a:solidFill>
                  <a:srgbClr val="FFD866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- Aprovado ✓</a:t>
            </a:r>
            <a:r>
              <a:rPr lang="pt-BR" sz="1800">
                <a:solidFill>
                  <a:srgbClr val="939293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")</a:t>
            </a:r>
            <a:endParaRPr sz="1800">
              <a:solidFill>
                <a:srgbClr val="939293"/>
              </a:solidFill>
              <a:highlight>
                <a:srgbClr val="2D2A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CFCFA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pt-BR" sz="1800">
                <a:solidFill>
                  <a:srgbClr val="FF6188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pt-BR" sz="1800">
                <a:solidFill>
                  <a:srgbClr val="939293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800">
              <a:solidFill>
                <a:srgbClr val="939293"/>
              </a:solidFill>
              <a:highlight>
                <a:srgbClr val="2D2A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CFCFA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pt-BR" sz="1800">
                <a:solidFill>
                  <a:srgbClr val="A9DC76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939293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CFCFA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nota</a:t>
            </a:r>
            <a:r>
              <a:rPr lang="pt-BR" sz="1800">
                <a:solidFill>
                  <a:srgbClr val="939293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pt-BR" sz="1800">
                <a:solidFill>
                  <a:srgbClr val="FCFCFA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939293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pt-BR" sz="1800">
                <a:solidFill>
                  <a:srgbClr val="FFD866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- Reprovado ✗</a:t>
            </a:r>
            <a:r>
              <a:rPr lang="pt-BR" sz="1800">
                <a:solidFill>
                  <a:srgbClr val="939293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")</a:t>
            </a:r>
            <a:endParaRPr sz="1800">
              <a:solidFill>
                <a:srgbClr val="F7F1FF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6" name="Google Shape;136;p21"/>
          <p:cNvSpPr txBox="1"/>
          <p:nvPr/>
        </p:nvSpPr>
        <p:spPr>
          <a:xfrm>
            <a:off x="5306400" y="1969075"/>
            <a:ext cx="3000000" cy="23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800">
                <a:solidFill>
                  <a:srgbClr val="727072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# 4 - Reprovado ✗</a:t>
            </a:r>
            <a:endParaRPr i="1" sz="1800">
              <a:solidFill>
                <a:srgbClr val="727072"/>
              </a:solidFill>
              <a:highlight>
                <a:srgbClr val="2D2A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800">
                <a:solidFill>
                  <a:srgbClr val="727072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# 7 - Aprovado ✓</a:t>
            </a:r>
            <a:endParaRPr i="1" sz="1800">
              <a:solidFill>
                <a:srgbClr val="727072"/>
              </a:solidFill>
              <a:highlight>
                <a:srgbClr val="2D2A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800">
                <a:solidFill>
                  <a:srgbClr val="727072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# 5 - Reprovado ✗</a:t>
            </a:r>
            <a:endParaRPr i="1" sz="1800">
              <a:solidFill>
                <a:srgbClr val="727072"/>
              </a:solidFill>
              <a:highlight>
                <a:srgbClr val="2D2A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800">
                <a:solidFill>
                  <a:srgbClr val="727072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# 9 - Aprovado ✓</a:t>
            </a:r>
            <a:endParaRPr i="1" sz="1800">
              <a:solidFill>
                <a:srgbClr val="727072"/>
              </a:solidFill>
              <a:highlight>
                <a:srgbClr val="2D2A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800">
                <a:solidFill>
                  <a:srgbClr val="727072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# 6 - Aprovado ✓</a:t>
            </a:r>
            <a:endParaRPr i="1" sz="1800">
              <a:solidFill>
                <a:srgbClr val="727072"/>
              </a:solidFill>
              <a:highlight>
                <a:srgbClr val="2D2A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800">
                <a:solidFill>
                  <a:srgbClr val="727072"/>
                </a:solidFill>
                <a:highlight>
                  <a:srgbClr val="2D2A2E"/>
                </a:highlight>
                <a:latin typeface="Consolas"/>
                <a:ea typeface="Consolas"/>
                <a:cs typeface="Consolas"/>
                <a:sym typeface="Consolas"/>
              </a:rPr>
              <a:t># 3 - Reprovado ✗</a:t>
            </a:r>
            <a:endParaRPr i="1" sz="1800">
              <a:solidFill>
                <a:srgbClr val="727072"/>
              </a:solidFill>
              <a:highlight>
                <a:srgbClr val="2D2A2E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/>
        </p:nvSpPr>
        <p:spPr>
          <a:xfrm>
            <a:off x="1889700" y="1626900"/>
            <a:ext cx="5364600" cy="18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Obrigado pela atenção!</a:t>
            </a:r>
            <a:endParaRPr b="1" sz="3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8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Bons estudos!</a:t>
            </a:r>
            <a:endParaRPr sz="38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