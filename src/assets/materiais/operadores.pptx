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Poppins Medium"/>
      <p:regular r:id="rId24"/>
      <p:bold r:id="rId25"/>
      <p:italic r:id="rId26"/>
      <p:boldItalic r:id="rId27"/>
    </p:embeddedFont>
    <p:embeddedFont>
      <p:font typeface="Poppins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PoppinsMedium-regular.fntdata"/><Relationship Id="rId23" Type="http://schemas.openxmlformats.org/officeDocument/2006/relationships/font" Target="fonts/Poppi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Medium-italic.fntdata"/><Relationship Id="rId25" Type="http://schemas.openxmlformats.org/officeDocument/2006/relationships/font" Target="fonts/PoppinsMedium-bold.fntdata"/><Relationship Id="rId28" Type="http://schemas.openxmlformats.org/officeDocument/2006/relationships/font" Target="fonts/PoppinsSemiBold-regular.fntdata"/><Relationship Id="rId27" Type="http://schemas.openxmlformats.org/officeDocument/2006/relationships/font" Target="fonts/Poppi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boldItalic.fntdata"/><Relationship Id="rId30" Type="http://schemas.openxmlformats.org/officeDocument/2006/relationships/font" Target="fonts/PoppinsSemiBold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50052264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d5005226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6f30a1b7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6f30a1b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operadores de adição e subtração funcionam iguais a como na matemática.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operadores de multiplicação e divisão funcionam iguais a como na matemática e seguem questões de precedência. Ex: 4 + 18 / 3 =&gt;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Divisão real resulta em valor com casas decimais. Ex: 10 / 4 =&gt; 2.5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Divisão inteira resulta apenas a parte inteira da divisão. Ex: 10 // 4 =&gt;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Exemplos de resto da divisão: 23 % 5 =&gt; 3     20 % 2 =&gt; 0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70aa52ca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70aa52ca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70aa52caf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70aa52caf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Considere para os dois exemplos o seguinte exemplo: “João quer dividir 15 brigadeiros para seus 4 amigos. Quantas brigadeiros cada amigo receberá e quantas sobrarão?”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Considere que não tem como ele partir os brigadeiros pela metade. João só consegue dar uma quantidade inteira de brigadeiros para cada amigo, então não é necessário saber as partes fracionárias/decimais da divisão. Acontece o mesmo para saber o que sobra, não é preciso conhecer a parte inteira, só o resto da divisão.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50052264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50052264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Operadores comparativo retornam valores booleanos, apenas True ou False.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500522647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500522647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operadores funcionam da mesma forma que na matemática.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50052264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50052264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500522647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500522647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500522647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50052264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51385025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51385025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51385025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51385025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70aa52ca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70aa52ca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500522647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500522647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70aa52ca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870aa52ca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2.jp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 title="cape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31450" y="4280050"/>
            <a:ext cx="476250" cy="43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</a:t>
            </a:r>
            <a:endParaRPr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Projeto Wanda</a:t>
            </a:r>
            <a:endParaRPr b="1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Operadores algébricos</a:t>
            </a:r>
            <a:endParaRPr sz="232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492075"/>
            <a:ext cx="55458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utilizados para fazer contas </a:t>
            </a: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algébricas</a:t>
            </a: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64" name="Google Shape;64;p14"/>
          <p:cNvGrpSpPr/>
          <p:nvPr/>
        </p:nvGrpSpPr>
        <p:grpSpPr>
          <a:xfrm>
            <a:off x="716563" y="1843365"/>
            <a:ext cx="5704975" cy="1361043"/>
            <a:chOff x="1792100" y="1700315"/>
            <a:chExt cx="5704975" cy="1361043"/>
          </a:xfrm>
        </p:grpSpPr>
        <p:sp>
          <p:nvSpPr>
            <p:cNvPr id="65" name="Google Shape;65;p14"/>
            <p:cNvSpPr txBox="1"/>
            <p:nvPr/>
          </p:nvSpPr>
          <p:spPr>
            <a:xfrm>
              <a:off x="2224550" y="1700325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5671">
                  <a:solidFill>
                    <a:srgbClr val="FFFFFF"/>
                  </a:solidFill>
                </a:rPr>
                <a:t>+</a:t>
              </a:r>
              <a:endParaRPr b="1" sz="5671">
                <a:solidFill>
                  <a:srgbClr val="FFFFFF"/>
                </a:solidFill>
              </a:endParaRPr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4304575" y="1700315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5871">
                  <a:solidFill>
                    <a:srgbClr val="FFFFFF"/>
                  </a:solidFill>
                </a:rPr>
                <a:t>-</a:t>
              </a:r>
              <a:endParaRPr b="1" sz="5871">
                <a:solidFill>
                  <a:srgbClr val="FFFFFF"/>
                </a:solidFill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6336975" y="1850216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7143">
                  <a:solidFill>
                    <a:srgbClr val="FFFFFF"/>
                  </a:solidFill>
                </a:rPr>
                <a:t>*</a:t>
              </a:r>
              <a:endParaRPr b="1" sz="7143">
                <a:solidFill>
                  <a:srgbClr val="FFFFFF"/>
                </a:solidFill>
              </a:endParaRPr>
            </a:p>
          </p:txBody>
        </p:sp>
        <p:sp>
          <p:nvSpPr>
            <p:cNvPr id="68" name="Google Shape;68;p14"/>
            <p:cNvSpPr txBox="1"/>
            <p:nvPr/>
          </p:nvSpPr>
          <p:spPr>
            <a:xfrm>
              <a:off x="1792100" y="2594558"/>
              <a:ext cx="1466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Adição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3872125" y="2594550"/>
              <a:ext cx="1466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Subtração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5778675" y="2594550"/>
              <a:ext cx="17184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Multiplicação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716563" y="3204395"/>
            <a:ext cx="5632375" cy="1361045"/>
            <a:chOff x="1792100" y="3098595"/>
            <a:chExt cx="5632375" cy="1361045"/>
          </a:xfrm>
        </p:grpSpPr>
        <p:sp>
          <p:nvSpPr>
            <p:cNvPr id="72" name="Google Shape;72;p14"/>
            <p:cNvSpPr txBox="1"/>
            <p:nvPr/>
          </p:nvSpPr>
          <p:spPr>
            <a:xfrm>
              <a:off x="2224550" y="3098607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4501">
                  <a:solidFill>
                    <a:srgbClr val="FFFFFF"/>
                  </a:solidFill>
                </a:rPr>
                <a:t> /</a:t>
              </a:r>
              <a:endParaRPr b="1" sz="4501">
                <a:solidFill>
                  <a:srgbClr val="FFFFFF"/>
                </a:solidFill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4304575" y="3113772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4501">
                  <a:solidFill>
                    <a:srgbClr val="FFFFFF"/>
                  </a:solidFill>
                </a:rPr>
                <a:t>//</a:t>
              </a:r>
              <a:endParaRPr b="1" sz="4501">
                <a:solidFill>
                  <a:srgbClr val="FFFFFF"/>
                </a:solidFill>
              </a:endParaRPr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1792100" y="3992840"/>
              <a:ext cx="14667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Divisão Real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3958825" y="3992840"/>
              <a:ext cx="12933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Divisão Inteira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6" name="Google Shape;76;p14"/>
            <p:cNvSpPr txBox="1"/>
            <p:nvPr/>
          </p:nvSpPr>
          <p:spPr>
            <a:xfrm>
              <a:off x="5851275" y="3992840"/>
              <a:ext cx="1573200" cy="46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61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Resto da Divisão</a:t>
              </a:r>
              <a:endParaRPr sz="176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77" name="Google Shape;77;p14"/>
            <p:cNvSpPr txBox="1"/>
            <p:nvPr/>
          </p:nvSpPr>
          <p:spPr>
            <a:xfrm>
              <a:off x="6336975" y="3098595"/>
              <a:ext cx="601800" cy="112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9450" lIns="89450" spcFirstLastPara="1" rIns="89450" wrap="square" tIns="89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4501">
                  <a:solidFill>
                    <a:srgbClr val="FFFFFF"/>
                  </a:solidFill>
                </a:rPr>
                <a:t>%</a:t>
              </a:r>
              <a:endParaRPr b="1" sz="4501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/>
        </p:nvSpPr>
        <p:spPr>
          <a:xfrm>
            <a:off x="403400" y="364450"/>
            <a:ext cx="473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Exemplos: </a:t>
            </a:r>
            <a:endParaRPr sz="22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403400" y="849106"/>
            <a:ext cx="14991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Adição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718150" y="849106"/>
            <a:ext cx="1907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Subtração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03400" y="2791425"/>
            <a:ext cx="2399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Multiplicação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4718150" y="2791425"/>
            <a:ext cx="2580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Poppins"/>
              <a:buChar char="●"/>
            </a:pPr>
            <a:r>
              <a:rPr b="1"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Divisão Real</a:t>
            </a:r>
            <a:endParaRPr b="1"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786650" y="1290800"/>
            <a:ext cx="28074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nota1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nota2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soma = nota1 + nota2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soma = 16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238400" y="1290800"/>
            <a:ext cx="32478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preco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120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desconto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total = preco - desconto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total = 90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786650" y="3268425"/>
            <a:ext cx="3502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valor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50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quantidade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total = valor * quantidade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total = 500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5238400" y="3268425"/>
            <a:ext cx="35022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soma_notas =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22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media = 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soma_notas </a:t>
            </a:r>
            <a:r>
              <a:rPr lang="pt-BR" sz="1800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/ </a:t>
            </a:r>
            <a:r>
              <a:rPr lang="pt-BR" sz="1800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media = 5.5</a:t>
            </a:r>
            <a:endParaRPr sz="1800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/>
        </p:nvSpPr>
        <p:spPr>
          <a:xfrm>
            <a:off x="591697" y="3466937"/>
            <a:ext cx="2418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-318535" lvl="0" marL="42471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2"/>
              <a:buFont typeface="Poppins"/>
              <a:buChar char="●"/>
            </a:pPr>
            <a:r>
              <a:rPr b="1" lang="pt-BR" sz="16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Resto da Divisão</a:t>
            </a:r>
            <a:endParaRPr b="1" sz="167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591697" y="1988783"/>
            <a:ext cx="2367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-318535" lvl="0" marL="42471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72"/>
              <a:buFont typeface="Poppins"/>
              <a:buChar char="●"/>
            </a:pPr>
            <a:r>
              <a:rPr b="1" lang="pt-BR" sz="167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Divisão Inteira</a:t>
            </a:r>
            <a:endParaRPr b="1" sz="1672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223488" y="433675"/>
            <a:ext cx="17157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Exemplos: </a:t>
            </a:r>
            <a:endParaRPr sz="22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591697" y="2431899"/>
            <a:ext cx="4456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CCCCC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qntd de balas para cada amigo</a:t>
            </a:r>
            <a:endParaRPr sz="1672">
              <a:solidFill>
                <a:srgbClr val="CCCCC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balas_amigos = brigadeiros // amigos</a:t>
            </a:r>
            <a:endParaRPr sz="1672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saida 3</a:t>
            </a:r>
            <a:endParaRPr sz="1672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91697" y="3910053"/>
            <a:ext cx="36450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qntd de balas que sobram</a:t>
            </a:r>
            <a:endParaRPr sz="1672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sobras = brigadeiros % amigos</a:t>
            </a:r>
            <a:endParaRPr sz="1672">
              <a:solidFill>
                <a:srgbClr val="F8F8F2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B7B7B7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# saida 3</a:t>
            </a:r>
            <a:endParaRPr sz="1672">
              <a:solidFill>
                <a:srgbClr val="B7B7B7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591697" y="1230338"/>
            <a:ext cx="2787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84950" lIns="84950" spcFirstLastPara="1" rIns="84950" wrap="square" tIns="849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brigadeiros = </a:t>
            </a:r>
            <a:r>
              <a:rPr lang="pt-BR" sz="1672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endParaRPr sz="1672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72">
                <a:solidFill>
                  <a:srgbClr val="F8F8F2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amigos = </a:t>
            </a:r>
            <a:r>
              <a:rPr lang="pt-BR" sz="1672">
                <a:solidFill>
                  <a:srgbClr val="F1FA8C"/>
                </a:solidFill>
                <a:highlight>
                  <a:srgbClr val="282A36"/>
                </a:highlight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672">
              <a:solidFill>
                <a:srgbClr val="F1FA8C"/>
              </a:solidFill>
              <a:highlight>
                <a:srgbClr val="282A36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1867517" y="433691"/>
            <a:ext cx="70530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João quer dividir 15 brigadeiros para seus 4 amigos. 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Quantas balas cada amigo receberá e quantas sobrarão?</a:t>
            </a:r>
            <a:endParaRPr sz="18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" name="Google Shape;102;p16" title="menino pensando em dividir bomboms com seus amigo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7949" y="1494825"/>
            <a:ext cx="2222351" cy="244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comparativos 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311700" y="1492075"/>
            <a:ext cx="3732300" cy="8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utilizados para verificar condições no código.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4283675" y="1492075"/>
            <a:ext cx="3732300" cy="8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Possuem apenas dois valores: verdadeiro ou falso.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7" title="daytime_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400" y="2447650"/>
            <a:ext cx="1338650" cy="13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 title="codi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6650" y="2447661"/>
            <a:ext cx="1037225" cy="10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1872950" y="2511650"/>
            <a:ext cx="19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Estamos de dia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14" name="Google Shape;114;p17" title="righ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2362800" y="2927050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/>
        </p:nvSpPr>
        <p:spPr>
          <a:xfrm>
            <a:off x="2058300" y="3553000"/>
            <a:ext cx="133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</a:rPr>
              <a:t>Verdade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2000">
              <a:solidFill>
                <a:srgbClr val="00FFFF"/>
              </a:solidFill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944200" y="2447650"/>
            <a:ext cx="229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</a:rPr>
              <a:t>Programar é chato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117" name="Google Shape;117;p17" title="righ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6434050" y="2863050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 txBox="1"/>
          <p:nvPr/>
        </p:nvSpPr>
        <p:spPr>
          <a:xfrm>
            <a:off x="6314900" y="3449300"/>
            <a:ext cx="1338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</a:rPr>
              <a:t>Falso</a:t>
            </a:r>
            <a:br>
              <a:rPr lang="pt-BR" sz="20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20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2000">
              <a:solidFill>
                <a:srgbClr val="00FF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para comparações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311700" y="1492075"/>
            <a:ext cx="7320300" cy="5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bem parecidos com os usados na matemática.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26" name="Google Shape;126;p18" title="is-greater-than-mathematical-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601" y="2643544"/>
            <a:ext cx="865207" cy="865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equal-to-or-greater-than-symb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8885" y="2163975"/>
            <a:ext cx="1824361" cy="1824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equal-to-or-greater-than-symbol.png"/>
          <p:cNvPicPr preferRelativeResize="0"/>
          <p:nvPr/>
        </p:nvPicPr>
        <p:blipFill rotWithShape="1">
          <a:blip r:embed="rId4">
            <a:alphaModFix/>
          </a:blip>
          <a:srcRect b="16763" l="40012" r="0" t="16610"/>
          <a:stretch/>
        </p:blipFill>
        <p:spPr>
          <a:xfrm>
            <a:off x="7288091" y="2459270"/>
            <a:ext cx="1155790" cy="1283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 title="is-greater-than-mathematical-sig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425868" y="2605924"/>
            <a:ext cx="990399" cy="99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563513" y="3805858"/>
            <a:ext cx="13443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25" lIns="84825" spcFirstLastPara="1" rIns="84825" wrap="square" tIns="848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63">
                <a:solidFill>
                  <a:schemeClr val="lt1"/>
                </a:solidFill>
              </a:rPr>
              <a:t>Maior que</a:t>
            </a:r>
            <a:endParaRPr sz="1763">
              <a:solidFill>
                <a:schemeClr val="lt1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2248972" y="3805858"/>
            <a:ext cx="13443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25" lIns="84825" spcFirstLastPara="1" rIns="84825" wrap="square" tIns="848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63">
                <a:solidFill>
                  <a:schemeClr val="lt1"/>
                </a:solidFill>
              </a:rPr>
              <a:t>Menor que</a:t>
            </a:r>
            <a:endParaRPr sz="1763">
              <a:solidFill>
                <a:schemeClr val="lt1"/>
              </a:solidFill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4169273" y="3805858"/>
            <a:ext cx="2070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25" lIns="84825" spcFirstLastPara="1" rIns="84825" wrap="square" tIns="848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63">
                <a:solidFill>
                  <a:schemeClr val="lt1"/>
                </a:solidFill>
              </a:rPr>
              <a:t>Maior ou igual que</a:t>
            </a:r>
            <a:endParaRPr sz="1763">
              <a:solidFill>
                <a:schemeClr val="lt1"/>
              </a:solidFill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6380597" y="3805858"/>
            <a:ext cx="21999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4825" lIns="84825" spcFirstLastPara="1" rIns="84825" wrap="square" tIns="848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63">
                <a:solidFill>
                  <a:schemeClr val="lt1"/>
                </a:solidFill>
              </a:rPr>
              <a:t>Menor </a:t>
            </a:r>
            <a:r>
              <a:rPr lang="pt-BR" sz="1763">
                <a:solidFill>
                  <a:schemeClr val="lt1"/>
                </a:solidFill>
              </a:rPr>
              <a:t>ou igual que</a:t>
            </a:r>
            <a:endParaRPr sz="1763">
              <a:solidFill>
                <a:schemeClr val="lt1"/>
              </a:solidFill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6530099" y="2525351"/>
            <a:ext cx="707667" cy="1101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para comparações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2302463" y="2821212"/>
            <a:ext cx="6476100" cy="5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símbolo “=” é usado para atribuição em variáveis.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311700" y="956375"/>
            <a:ext cx="2262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Continuação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804185" y="2394401"/>
            <a:ext cx="9390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6">
                <a:solidFill>
                  <a:schemeClr val="lt1"/>
                </a:solidFill>
              </a:rPr>
              <a:t>Igual</a:t>
            </a:r>
            <a:endParaRPr sz="2106">
              <a:solidFill>
                <a:schemeClr val="lt1"/>
              </a:solidFill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638524" y="4131250"/>
            <a:ext cx="14355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6">
                <a:solidFill>
                  <a:schemeClr val="lt1"/>
                </a:solidFill>
              </a:rPr>
              <a:t>Diferente</a:t>
            </a:r>
            <a:endParaRPr sz="2106">
              <a:solidFill>
                <a:schemeClr val="lt1"/>
              </a:solidFill>
            </a:endParaRPr>
          </a:p>
        </p:txBody>
      </p:sp>
      <p:pic>
        <p:nvPicPr>
          <p:cNvPr id="144" name="Google Shape;144;p19" title="white_inequality_operator_icon.png"/>
          <p:cNvPicPr preferRelativeResize="0"/>
          <p:nvPr/>
        </p:nvPicPr>
        <p:blipFill rotWithShape="1">
          <a:blip r:embed="rId3">
            <a:alphaModFix/>
          </a:blip>
          <a:srcRect b="20888" l="19693" r="13189" t="15832"/>
          <a:stretch/>
        </p:blipFill>
        <p:spPr>
          <a:xfrm>
            <a:off x="483175" y="3064098"/>
            <a:ext cx="1549617" cy="126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 title="white_equality_operator_icon.png"/>
          <p:cNvPicPr preferRelativeResize="0"/>
          <p:nvPr/>
        </p:nvPicPr>
        <p:blipFill rotWithShape="1">
          <a:blip r:embed="rId4">
            <a:alphaModFix/>
          </a:blip>
          <a:srcRect b="28899" l="12138" r="7476" t="20867"/>
          <a:stretch/>
        </p:blipFill>
        <p:spPr>
          <a:xfrm>
            <a:off x="540196" y="1439075"/>
            <a:ext cx="1435576" cy="95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 title="dang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5714" y="1830559"/>
            <a:ext cx="719474" cy="76612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4937051" y="1969000"/>
            <a:ext cx="2634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</a:rPr>
              <a:t>OBSERVAÇÃO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2302463" y="3565613"/>
            <a:ext cx="6476100" cy="5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Char char="●"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símbolo “==” é usado para comparações.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para comparações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311700" y="956375"/>
            <a:ext cx="2262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Exemplos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 flipH="1">
            <a:off x="363421" y="1362013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-445807" lvl="0" marL="57318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7"/>
              <a:buChar char="●"/>
            </a:pPr>
            <a:r>
              <a:rPr lang="pt-BR" sz="2507">
                <a:solidFill>
                  <a:schemeClr val="lt1"/>
                </a:solidFill>
              </a:rPr>
              <a:t>Ex 1</a:t>
            </a:r>
            <a:endParaRPr sz="2507">
              <a:solidFill>
                <a:schemeClr val="lt1"/>
              </a:solidFill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835754" y="1965625"/>
            <a:ext cx="16611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57">
                <a:solidFill>
                  <a:schemeClr val="lt1"/>
                </a:solidFill>
              </a:rPr>
              <a:t>7 &gt; 2</a:t>
            </a:r>
            <a:endParaRPr sz="2257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57">
                <a:solidFill>
                  <a:schemeClr val="lt1"/>
                </a:solidFill>
              </a:rPr>
              <a:t>Valor: True</a:t>
            </a:r>
            <a:endParaRPr sz="2257">
              <a:solidFill>
                <a:schemeClr val="lt1"/>
              </a:solidFill>
            </a:endParaRPr>
          </a:p>
        </p:txBody>
      </p:sp>
      <p:sp>
        <p:nvSpPr>
          <p:cNvPr id="157" name="Google Shape;157;p20"/>
          <p:cNvSpPr txBox="1"/>
          <p:nvPr/>
        </p:nvSpPr>
        <p:spPr>
          <a:xfrm flipH="1">
            <a:off x="366030" y="2947054"/>
            <a:ext cx="15426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425" lIns="106425" spcFirstLastPara="1" rIns="106425" wrap="square" tIns="106425">
            <a:noAutofit/>
          </a:bodyPr>
          <a:lstStyle/>
          <a:p>
            <a:pPr indent="-413934" lvl="0" marL="53220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28"/>
              <a:buChar char="●"/>
            </a:pPr>
            <a:r>
              <a:rPr lang="pt-BR" sz="2328">
                <a:solidFill>
                  <a:schemeClr val="lt1"/>
                </a:solidFill>
              </a:rPr>
              <a:t>Ex 2</a:t>
            </a:r>
            <a:endParaRPr sz="2328">
              <a:solidFill>
                <a:schemeClr val="lt1"/>
              </a:solidFill>
            </a:endParaRPr>
          </a:p>
        </p:txBody>
      </p:sp>
      <p:sp>
        <p:nvSpPr>
          <p:cNvPr id="158" name="Google Shape;158;p20"/>
          <p:cNvSpPr txBox="1"/>
          <p:nvPr/>
        </p:nvSpPr>
        <p:spPr>
          <a:xfrm>
            <a:off x="804855" y="3507500"/>
            <a:ext cx="1699500" cy="8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425" lIns="106425" spcFirstLastPara="1" rIns="106425" wrap="square" tIns="106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95">
                <a:solidFill>
                  <a:schemeClr val="lt1"/>
                </a:solidFill>
              </a:rPr>
              <a:t>7 &gt; 7</a:t>
            </a:r>
            <a:endParaRPr sz="2095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95">
                <a:solidFill>
                  <a:schemeClr val="lt1"/>
                </a:solidFill>
              </a:rPr>
              <a:t>Valor: False</a:t>
            </a:r>
            <a:endParaRPr sz="2095">
              <a:solidFill>
                <a:schemeClr val="lt1"/>
              </a:solidFill>
            </a:endParaRPr>
          </a:p>
        </p:txBody>
      </p:sp>
      <p:sp>
        <p:nvSpPr>
          <p:cNvPr id="159" name="Google Shape;159;p20"/>
          <p:cNvSpPr txBox="1"/>
          <p:nvPr/>
        </p:nvSpPr>
        <p:spPr>
          <a:xfrm flipH="1">
            <a:off x="4029984" y="1439077"/>
            <a:ext cx="15063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925" lIns="103925" spcFirstLastPara="1" rIns="103925" wrap="square" tIns="103925">
            <a:noAutofit/>
          </a:bodyPr>
          <a:lstStyle/>
          <a:p>
            <a:pPr indent="-404189" lvl="0" marL="519671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73"/>
              <a:buChar char="●"/>
            </a:pPr>
            <a:r>
              <a:rPr lang="pt-BR" sz="2273">
                <a:solidFill>
                  <a:schemeClr val="lt1"/>
                </a:solidFill>
              </a:rPr>
              <a:t>Ex 3</a:t>
            </a:r>
            <a:endParaRPr sz="2273">
              <a:solidFill>
                <a:schemeClr val="lt1"/>
              </a:solidFill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4458496" y="1986340"/>
            <a:ext cx="15063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925" lIns="103925" spcFirstLastPara="1" rIns="103925" wrap="square" tIns="103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46">
                <a:solidFill>
                  <a:schemeClr val="lt1"/>
                </a:solidFill>
              </a:rPr>
              <a:t>1&lt;=2</a:t>
            </a:r>
            <a:endParaRPr sz="204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46">
                <a:solidFill>
                  <a:schemeClr val="lt1"/>
                </a:solidFill>
              </a:rPr>
              <a:t>Valor: True</a:t>
            </a:r>
            <a:endParaRPr sz="2046">
              <a:solidFill>
                <a:schemeClr val="lt1"/>
              </a:solidFill>
            </a:endParaRPr>
          </a:p>
        </p:txBody>
      </p:sp>
      <p:sp>
        <p:nvSpPr>
          <p:cNvPr id="161" name="Google Shape;161;p20"/>
          <p:cNvSpPr txBox="1"/>
          <p:nvPr/>
        </p:nvSpPr>
        <p:spPr>
          <a:xfrm flipH="1">
            <a:off x="4027762" y="2891725"/>
            <a:ext cx="1551900" cy="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075" lIns="107075" spcFirstLastPara="1" rIns="107075" wrap="square" tIns="107075">
            <a:noAutofit/>
          </a:bodyPr>
          <a:lstStyle/>
          <a:p>
            <a:pPr indent="-416485" lvl="0" marL="53548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42"/>
              <a:buChar char="●"/>
            </a:pPr>
            <a:r>
              <a:rPr lang="pt-BR" sz="2342">
                <a:solidFill>
                  <a:schemeClr val="lt1"/>
                </a:solidFill>
              </a:rPr>
              <a:t>Ex 4</a:t>
            </a:r>
            <a:endParaRPr sz="2342">
              <a:solidFill>
                <a:schemeClr val="lt1"/>
              </a:solidFill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469084" y="3455637"/>
            <a:ext cx="15519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075" lIns="107075" spcFirstLastPara="1" rIns="107075" wrap="square" tIns="107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8">
                <a:solidFill>
                  <a:schemeClr val="lt1"/>
                </a:solidFill>
              </a:rPr>
              <a:t>3</a:t>
            </a:r>
            <a:r>
              <a:rPr lang="pt-BR" sz="2108">
                <a:solidFill>
                  <a:schemeClr val="lt1"/>
                </a:solidFill>
              </a:rPr>
              <a:t> != 2</a:t>
            </a:r>
            <a:endParaRPr sz="2108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8">
                <a:solidFill>
                  <a:schemeClr val="lt1"/>
                </a:solidFill>
              </a:rPr>
              <a:t>Valor: True</a:t>
            </a:r>
            <a:endParaRPr sz="2108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21"/>
          <p:cNvSpPr txBox="1"/>
          <p:nvPr>
            <p:ph idx="1" type="body"/>
          </p:nvPr>
        </p:nvSpPr>
        <p:spPr>
          <a:xfrm>
            <a:off x="311700" y="1492075"/>
            <a:ext cx="7881900" cy="8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São utilizados para verificar duas ou mais condições no código de forma simultânea.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311700" y="2525275"/>
            <a:ext cx="8520600" cy="12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FFFFFF"/>
                </a:solidFill>
              </a:rPr>
              <a:t>O Python possui três operadores lógicos principais:</a:t>
            </a:r>
            <a:endParaRPr b="1" sz="2000">
              <a:solidFill>
                <a:srgbClr val="FFFFFF"/>
              </a:solidFill>
            </a:endParaRPr>
          </a:p>
          <a:p>
            <a:pPr indent="0" lvl="0" marL="450000" rtl="0" algn="ctr"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pt-BR" sz="4300">
                <a:solidFill>
                  <a:srgbClr val="FFFFFF"/>
                </a:solidFill>
              </a:rPr>
              <a:t>AND  -  OR  -  NOT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22"/>
          <p:cNvSpPr txBox="1"/>
          <p:nvPr>
            <p:ph idx="1" type="body"/>
          </p:nvPr>
        </p:nvSpPr>
        <p:spPr>
          <a:xfrm>
            <a:off x="311700" y="1402363"/>
            <a:ext cx="78819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Ambas as condições devem ser verdadeiras.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311700" y="866675"/>
            <a:ext cx="839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 flipH="1">
            <a:off x="311696" y="1855126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7">
                <a:solidFill>
                  <a:schemeClr val="lt1"/>
                </a:solidFill>
              </a:rPr>
              <a:t>Ex:</a:t>
            </a:r>
            <a:endParaRPr sz="2507">
              <a:solidFill>
                <a:schemeClr val="lt1"/>
              </a:solidFill>
            </a:endParaRPr>
          </a:p>
        </p:txBody>
      </p:sp>
      <p:pic>
        <p:nvPicPr>
          <p:cNvPr id="179" name="Google Shape;179;p22" title="sala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419" y="2487248"/>
            <a:ext cx="989711" cy="989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2" title="educ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6148" y="2459610"/>
            <a:ext cx="962499" cy="96251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 txBox="1"/>
          <p:nvPr>
            <p:ph idx="1" type="body"/>
          </p:nvPr>
        </p:nvSpPr>
        <p:spPr>
          <a:xfrm>
            <a:off x="311700" y="3598430"/>
            <a:ext cx="27171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1) </a:t>
            </a: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Vocês recebem salário.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3801315" y="3598430"/>
            <a:ext cx="28809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2) </a:t>
            </a: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Vocês são estudantes.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976786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184" name="Google Shape;184;p22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28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4374333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186" name="Google Shape;186;p22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775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 txBox="1"/>
          <p:nvPr/>
        </p:nvSpPr>
        <p:spPr>
          <a:xfrm>
            <a:off x="2979281" y="3571203"/>
            <a:ext cx="747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958" u="sng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</a:t>
            </a:r>
            <a:endParaRPr sz="1958" u="sng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88" name="Google Shape;188;p22" title="r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0600" y="2919125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 txBox="1"/>
          <p:nvPr/>
        </p:nvSpPr>
        <p:spPr>
          <a:xfrm>
            <a:off x="6856125" y="2674688"/>
            <a:ext cx="205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Valor final: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False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311700" y="1424791"/>
            <a:ext cx="78819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verdade quando pelo menos uma sentença é verdade.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311700" y="889091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97" name="Google Shape;197;p23" title="brazi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423" y="2409275"/>
            <a:ext cx="1163913" cy="1163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3" title="rain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6476" y="2467889"/>
            <a:ext cx="1046700" cy="104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 flipH="1">
            <a:off x="311696" y="1855126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7">
                <a:solidFill>
                  <a:schemeClr val="lt1"/>
                </a:solidFill>
              </a:rPr>
              <a:t>Ex:</a:t>
            </a:r>
            <a:endParaRPr sz="2507">
              <a:solidFill>
                <a:schemeClr val="lt1"/>
              </a:solidFill>
            </a:endParaRPr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311700" y="3598430"/>
            <a:ext cx="27171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1) Somos brasileiros.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23"/>
          <p:cNvSpPr txBox="1"/>
          <p:nvPr>
            <p:ph idx="1" type="body"/>
          </p:nvPr>
        </p:nvSpPr>
        <p:spPr>
          <a:xfrm>
            <a:off x="3801315" y="3598430"/>
            <a:ext cx="2880900" cy="429600"/>
          </a:xfrm>
          <a:prstGeom prst="rect">
            <a:avLst/>
          </a:prstGeom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513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2) Está chovendo.</a:t>
            </a:r>
            <a:endParaRPr sz="1513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976786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203" name="Google Shape;203;p23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228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4374333" y="3965719"/>
            <a:ext cx="119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9"/>
              <a:buFont typeface="Arial"/>
              <a:buNone/>
            </a:pPr>
            <a:r>
              <a:rPr lang="pt-BR" sz="1958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958">
              <a:solidFill>
                <a:srgbClr val="00FFFF"/>
              </a:solidFill>
            </a:endParaRPr>
          </a:p>
        </p:txBody>
      </p:sp>
      <p:pic>
        <p:nvPicPr>
          <p:cNvPr id="205" name="Google Shape;205;p23" title="arro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775" y="3965719"/>
            <a:ext cx="429665" cy="42966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2822281" y="3598428"/>
            <a:ext cx="747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958" u="sng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</a:t>
            </a:r>
            <a:endParaRPr sz="1958" u="sng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07" name="Google Shape;207;p23" title="r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0600" y="2919125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6856125" y="2674688"/>
            <a:ext cx="205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Valor final: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True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24"/>
          <p:cNvSpPr txBox="1"/>
          <p:nvPr>
            <p:ph idx="1" type="body"/>
          </p:nvPr>
        </p:nvSpPr>
        <p:spPr>
          <a:xfrm>
            <a:off x="311700" y="1424791"/>
            <a:ext cx="78819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usado para inverter o valor da sentença.</a:t>
            </a:r>
            <a:endParaRPr sz="1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5" name="Google Shape;215;p24"/>
          <p:cNvSpPr txBox="1"/>
          <p:nvPr/>
        </p:nvSpPr>
        <p:spPr>
          <a:xfrm>
            <a:off x="311700" y="889091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6" name="Google Shape;216;p24"/>
          <p:cNvSpPr txBox="1"/>
          <p:nvPr/>
        </p:nvSpPr>
        <p:spPr>
          <a:xfrm flipH="1">
            <a:off x="311696" y="1855126"/>
            <a:ext cx="1661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4625" lIns="114625" spcFirstLastPara="1" rIns="114625" wrap="square" tIns="114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7">
                <a:solidFill>
                  <a:schemeClr val="lt1"/>
                </a:solidFill>
              </a:rPr>
              <a:t>Ex:</a:t>
            </a:r>
            <a:endParaRPr sz="2507">
              <a:solidFill>
                <a:schemeClr val="lt1"/>
              </a:solidFill>
            </a:endParaRPr>
          </a:p>
        </p:txBody>
      </p:sp>
      <p:sp>
        <p:nvSpPr>
          <p:cNvPr id="217" name="Google Shape;217;p24"/>
          <p:cNvSpPr txBox="1"/>
          <p:nvPr>
            <p:ph idx="1" type="body"/>
          </p:nvPr>
        </p:nvSpPr>
        <p:spPr>
          <a:xfrm>
            <a:off x="1104156" y="3476950"/>
            <a:ext cx="2260200" cy="593400"/>
          </a:xfrm>
          <a:prstGeom prst="rect">
            <a:avLst/>
          </a:prstGeom>
        </p:spPr>
        <p:txBody>
          <a:bodyPr anchorCtr="0" anchor="t" bIns="112400" lIns="112400" spcFirstLastPara="1" rIns="112400" wrap="square" tIns="11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75"/>
              </a:spcAft>
              <a:buNone/>
            </a:pPr>
            <a:r>
              <a:rPr lang="pt-BR" sz="209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céu é azul</a:t>
            </a:r>
            <a:endParaRPr sz="209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2022804" y="3984276"/>
            <a:ext cx="16458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400" lIns="112400" spcFirstLastPara="1" rIns="112400" wrap="square" tIns="1124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2"/>
              <a:buFont typeface="Arial"/>
              <a:buNone/>
            </a:pPr>
            <a:r>
              <a:rPr lang="pt-BR" sz="2705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2705">
              <a:solidFill>
                <a:srgbClr val="00FFFF"/>
              </a:solidFill>
            </a:endParaRPr>
          </a:p>
        </p:txBody>
      </p:sp>
      <p:pic>
        <p:nvPicPr>
          <p:cNvPr id="219" name="Google Shape;219;p24" title="arr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697" y="3984275"/>
            <a:ext cx="593473" cy="59347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356847" y="3506521"/>
            <a:ext cx="7473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75" lIns="81375" spcFirstLastPara="1" rIns="81375" wrap="square" tIns="81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68"/>
              </a:spcAft>
              <a:buNone/>
            </a:pPr>
            <a:r>
              <a:rPr lang="pt-BR" sz="1958" u="sng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</a:t>
            </a:r>
            <a:endParaRPr sz="1958" u="sng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21" name="Google Shape;221;p24" title="righ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7562" y="3494725"/>
            <a:ext cx="557825" cy="55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6411900" y="2430250"/>
            <a:ext cx="2055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Valor final: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False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23" name="Google Shape;223;p24" title="cloud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1858" y="2216025"/>
            <a:ext cx="1191599" cy="11915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" type="body"/>
          </p:nvPr>
        </p:nvSpPr>
        <p:spPr>
          <a:xfrm>
            <a:off x="3745400" y="3476950"/>
            <a:ext cx="2526900" cy="593400"/>
          </a:xfrm>
          <a:prstGeom prst="rect">
            <a:avLst/>
          </a:prstGeom>
        </p:spPr>
        <p:txBody>
          <a:bodyPr anchorCtr="0" anchor="t" bIns="112400" lIns="112400" spcFirstLastPara="1" rIns="112400" wrap="square" tIns="112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475"/>
              </a:spcAft>
              <a:buNone/>
            </a:pPr>
            <a:r>
              <a:rPr lang="pt-BR" sz="209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 céu não é azul</a:t>
            </a:r>
            <a:endParaRPr sz="209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5" name="Google Shape;225;p24" title="right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8550" y="2562563"/>
            <a:ext cx="782075" cy="78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Operadores lógicos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Tabela geral 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32" name="Google Shape;232;p25" title="truth_table_or.png"/>
          <p:cNvPicPr preferRelativeResize="0"/>
          <p:nvPr/>
        </p:nvPicPr>
        <p:blipFill rotWithShape="1">
          <a:blip r:embed="rId3">
            <a:alphaModFix/>
          </a:blip>
          <a:srcRect b="29273" l="8347" r="8104" t="23183"/>
          <a:stretch/>
        </p:blipFill>
        <p:spPr>
          <a:xfrm>
            <a:off x="3238525" y="2332397"/>
            <a:ext cx="2592776" cy="147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5" title="truth_table_not.png"/>
          <p:cNvPicPr preferRelativeResize="0"/>
          <p:nvPr/>
        </p:nvPicPr>
        <p:blipFill rotWithShape="1">
          <a:blip r:embed="rId4">
            <a:alphaModFix/>
          </a:blip>
          <a:srcRect b="31883" l="4921" r="5610" t="23084"/>
          <a:stretch/>
        </p:blipFill>
        <p:spPr>
          <a:xfrm>
            <a:off x="6318650" y="2332385"/>
            <a:ext cx="2257751" cy="1136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5" title="truth_table_and.png"/>
          <p:cNvPicPr preferRelativeResize="0"/>
          <p:nvPr/>
        </p:nvPicPr>
        <p:blipFill rotWithShape="1">
          <a:blip r:embed="rId5">
            <a:alphaModFix/>
          </a:blip>
          <a:srcRect b="30960" l="5402" r="5606" t="21801"/>
          <a:stretch/>
        </p:blipFill>
        <p:spPr>
          <a:xfrm>
            <a:off x="192100" y="2369898"/>
            <a:ext cx="2559076" cy="135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5"/>
          <p:cNvSpPr txBox="1"/>
          <p:nvPr/>
        </p:nvSpPr>
        <p:spPr>
          <a:xfrm>
            <a:off x="1015938" y="1849700"/>
            <a:ext cx="911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AND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4116288" y="1887200"/>
            <a:ext cx="911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6960063" y="1887200"/>
            <a:ext cx="911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